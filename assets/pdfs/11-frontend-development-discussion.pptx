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5" r:id="rId4"/>
    <p:sldId id="289" r:id="rId5"/>
    <p:sldId id="290" r:id="rId6"/>
    <p:sldId id="288" r:id="rId7"/>
    <p:sldId id="292" r:id="rId8"/>
    <p:sldId id="286" r:id="rId9"/>
    <p:sldId id="287" r:id="rId10"/>
    <p:sldId id="29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75"/>
    <p:restoredTop sz="96327"/>
  </p:normalViewPr>
  <p:slideViewPr>
    <p:cSldViewPr snapToGrid="0">
      <p:cViewPr varScale="1">
        <p:scale>
          <a:sx n="119" d="100"/>
          <a:sy n="119" d="100"/>
        </p:scale>
        <p:origin x="224" y="19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7FC97-C833-739B-93FC-8C2BC005407C}"/>
              </a:ext>
            </a:extLst>
          </p:cNvPr>
          <p:cNvSpPr>
            <a:spLocks noGrp="1"/>
          </p:cNvSpPr>
          <p:nvPr>
            <p:ph type="ctrTitle"/>
          </p:nvPr>
        </p:nvSpPr>
        <p:spPr>
          <a:xfrm>
            <a:off x="1524000" y="1122363"/>
            <a:ext cx="9144000" cy="2387600"/>
          </a:xfrm>
        </p:spPr>
        <p:txBody>
          <a:bodyPr anchor="b"/>
          <a:lstStyle>
            <a:lvl1pPr algn="ctr">
              <a:defRPr sz="6000">
                <a:solidFill>
                  <a:srgbClr val="AE0000"/>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7DCB164-CC99-3D9C-0D3C-D3B787E294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77327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8D410-3D34-D560-E8EF-271128797B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7A0987-9BD6-8FF3-3ABB-4A90C9A022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1928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D15D1-6FE3-F312-9A1F-209AEE0A3E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EBC72F-C23E-5E65-BD47-06C26C8EF4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019390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E4C69-408F-5891-A66D-D9A330F82A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203E41-4006-88BF-2856-0CF0CEE964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E34D11-884F-6D04-4443-962EF42409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4529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CFEDF-5226-9B28-A1E8-F134259852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E489E5-77A8-FC2C-B8F5-CCD76D652F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8D7E48-4F0F-3E43-A99E-33356DFF10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A0F75B-0F34-D2DA-0334-1E63AC47A6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E4C719-F84C-671C-79CD-3E38CB6F0D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283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12300-4F28-7EDE-10FA-82383144B3D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94098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13441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D105-E26A-C8BC-31B1-6E2BD93E53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E843BF-40B8-2FC1-8B25-737CBA31EF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71FC43-18D7-9101-7321-15B0477A41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4529288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B1FF7-5D48-62C2-5225-C8003FE7B7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7627A9-23C6-1ADE-1864-7A98F408C9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06815AB-7919-292C-9D75-F004DC41E3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19370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89547B-A6AC-DAA3-9B5B-1C77DA85FE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397CECE-FCD5-3AB1-0A27-410A40701E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hape 10">
            <a:extLst>
              <a:ext uri="{FF2B5EF4-FFF2-40B4-BE49-F238E27FC236}">
                <a16:creationId xmlns:a16="http://schemas.microsoft.com/office/drawing/2014/main" id="{5CB8F563-FF3E-F8ED-61E5-E09A93215B8A}"/>
              </a:ext>
            </a:extLst>
          </p:cNvPr>
          <p:cNvSpPr/>
          <p:nvPr userDrawn="1"/>
        </p:nvSpPr>
        <p:spPr>
          <a:xfrm>
            <a:off x="0" y="6311900"/>
            <a:ext cx="12192000" cy="546002"/>
          </a:xfrm>
          <a:prstGeom prst="rect">
            <a:avLst/>
          </a:prstGeom>
          <a:solidFill>
            <a:srgbClr val="585858"/>
          </a:solidFill>
          <a:ln w="12700">
            <a:miter lim="400000"/>
          </a:ln>
        </p:spPr>
        <p:txBody>
          <a:bodyPr lIns="0" tIns="0" rIns="0" bIns="0" anchor="ctr"/>
          <a:lstStyle/>
          <a:p>
            <a:endParaRPr sz="1400"/>
          </a:p>
        </p:txBody>
      </p:sp>
      <p:pic>
        <p:nvPicPr>
          <p:cNvPr id="8" name="Picture 7">
            <a:extLst>
              <a:ext uri="{FF2B5EF4-FFF2-40B4-BE49-F238E27FC236}">
                <a16:creationId xmlns:a16="http://schemas.microsoft.com/office/drawing/2014/main" id="{BE58C5B4-BAB4-38D5-E83D-7BAE33628F93}"/>
              </a:ext>
            </a:extLst>
          </p:cNvPr>
          <p:cNvPicPr>
            <a:picLocks noChangeAspect="1"/>
          </p:cNvPicPr>
          <p:nvPr userDrawn="1"/>
        </p:nvPicPr>
        <p:blipFill rotWithShape="1">
          <a:blip r:embed="rId11"/>
          <a:srcRect t="1" r="51173" b="-3824"/>
          <a:stretch/>
        </p:blipFill>
        <p:spPr>
          <a:xfrm>
            <a:off x="23170" y="6344507"/>
            <a:ext cx="1290623" cy="513395"/>
          </a:xfrm>
          <a:prstGeom prst="rect">
            <a:avLst/>
          </a:prstGeom>
        </p:spPr>
      </p:pic>
      <p:pic>
        <p:nvPicPr>
          <p:cNvPr id="10" name="Picture 9">
            <a:extLst>
              <a:ext uri="{FF2B5EF4-FFF2-40B4-BE49-F238E27FC236}">
                <a16:creationId xmlns:a16="http://schemas.microsoft.com/office/drawing/2014/main" id="{0F32B292-45BD-CD2A-B216-340291B3048A}"/>
              </a:ext>
            </a:extLst>
          </p:cNvPr>
          <p:cNvPicPr>
            <a:picLocks noChangeAspect="1"/>
          </p:cNvPicPr>
          <p:nvPr userDrawn="1"/>
        </p:nvPicPr>
        <p:blipFill>
          <a:blip r:embed="rId12"/>
          <a:stretch>
            <a:fillRect/>
          </a:stretch>
        </p:blipFill>
        <p:spPr>
          <a:xfrm>
            <a:off x="11314734" y="6330975"/>
            <a:ext cx="856698" cy="546002"/>
          </a:xfrm>
          <a:prstGeom prst="rect">
            <a:avLst/>
          </a:prstGeom>
        </p:spPr>
      </p:pic>
    </p:spTree>
    <p:extLst>
      <p:ext uri="{BB962C8B-B14F-4D97-AF65-F5344CB8AC3E}">
        <p14:creationId xmlns:p14="http://schemas.microsoft.com/office/powerpoint/2010/main" val="420989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rgbClr val="AE0000"/>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mu-05-499.github.i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AF418-1E88-B3CF-67F3-3B5F542A8A8F}"/>
              </a:ext>
            </a:extLst>
          </p:cNvPr>
          <p:cNvSpPr>
            <a:spLocks noGrp="1"/>
          </p:cNvSpPr>
          <p:nvPr>
            <p:ph type="ctrTitle"/>
          </p:nvPr>
        </p:nvSpPr>
        <p:spPr/>
        <p:txBody>
          <a:bodyPr/>
          <a:lstStyle/>
          <a:p>
            <a:r>
              <a:rPr lang="en-US" dirty="0"/>
              <a:t>Discussion on Frontend Development</a:t>
            </a:r>
          </a:p>
        </p:txBody>
      </p:sp>
      <p:sp>
        <p:nvSpPr>
          <p:cNvPr id="3" name="Subtitle 2">
            <a:extLst>
              <a:ext uri="{FF2B5EF4-FFF2-40B4-BE49-F238E27FC236}">
                <a16:creationId xmlns:a16="http://schemas.microsoft.com/office/drawing/2014/main" id="{70F26284-8867-6248-DFB2-F714AF8C59B5}"/>
              </a:ext>
            </a:extLst>
          </p:cNvPr>
          <p:cNvSpPr>
            <a:spLocks noGrp="1"/>
          </p:cNvSpPr>
          <p:nvPr>
            <p:ph type="subTitle" idx="1"/>
          </p:nvPr>
        </p:nvSpPr>
        <p:spPr/>
        <p:txBody>
          <a:bodyPr>
            <a:normAutofit lnSpcReduction="10000"/>
          </a:bodyPr>
          <a:lstStyle/>
          <a:p>
            <a:r>
              <a:rPr lang="en-US" dirty="0"/>
              <a:t>17-316/616 Fall 2025</a:t>
            </a:r>
          </a:p>
          <a:p>
            <a:r>
              <a:rPr lang="en-US" dirty="0">
                <a:solidFill>
                  <a:srgbClr val="AE0000"/>
                </a:solidFill>
              </a:rPr>
              <a:t>AI Tools for Software Development</a:t>
            </a:r>
          </a:p>
          <a:p>
            <a:r>
              <a:rPr lang="en-US" dirty="0">
                <a:hlinkClick r:id="rId2"/>
              </a:rPr>
              <a:t>https://ai-developer-tools.github.io</a:t>
            </a:r>
            <a:endParaRPr lang="en-US" dirty="0"/>
          </a:p>
          <a:p>
            <a:r>
              <a:rPr lang="en-US" dirty="0"/>
              <a:t>Austin Henley and Andrew Begel</a:t>
            </a:r>
          </a:p>
        </p:txBody>
      </p:sp>
    </p:spTree>
    <p:extLst>
      <p:ext uri="{BB962C8B-B14F-4D97-AF65-F5344CB8AC3E}">
        <p14:creationId xmlns:p14="http://schemas.microsoft.com/office/powerpoint/2010/main" val="279767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E3115-E529-374F-B402-4644536B6A65}"/>
              </a:ext>
            </a:extLst>
          </p:cNvPr>
          <p:cNvSpPr>
            <a:spLocks noGrp="1"/>
          </p:cNvSpPr>
          <p:nvPr>
            <p:ph type="title"/>
          </p:nvPr>
        </p:nvSpPr>
        <p:spPr/>
        <p:txBody>
          <a:bodyPr/>
          <a:lstStyle/>
          <a:p>
            <a:r>
              <a:rPr lang="en-US" dirty="0"/>
              <a:t>Reflection prompts this week</a:t>
            </a:r>
          </a:p>
        </p:txBody>
      </p:sp>
      <p:sp>
        <p:nvSpPr>
          <p:cNvPr id="6" name="Content Placeholder 5">
            <a:extLst>
              <a:ext uri="{FF2B5EF4-FFF2-40B4-BE49-F238E27FC236}">
                <a16:creationId xmlns:a16="http://schemas.microsoft.com/office/drawing/2014/main" id="{9C594E6F-DCB4-22C5-91EE-63F3381DC5CA}"/>
              </a:ext>
            </a:extLst>
          </p:cNvPr>
          <p:cNvSpPr>
            <a:spLocks noGrp="1"/>
          </p:cNvSpPr>
          <p:nvPr>
            <p:ph idx="1"/>
          </p:nvPr>
        </p:nvSpPr>
        <p:spPr>
          <a:xfrm>
            <a:off x="838200" y="1684106"/>
            <a:ext cx="10515600" cy="4667251"/>
          </a:xfrm>
        </p:spPr>
        <p:txBody>
          <a:bodyPr>
            <a:normAutofit fontScale="55000" lnSpcReduction="20000"/>
          </a:bodyPr>
          <a:lstStyle/>
          <a:p>
            <a:pPr marL="514350" indent="-514350" fontAlgn="b">
              <a:lnSpc>
                <a:spcPct val="120000"/>
              </a:lnSpc>
              <a:buFont typeface="+mj-lt"/>
              <a:buAutoNum type="arabicPeriod"/>
            </a:pPr>
            <a:r>
              <a:rPr lang="en-US" dirty="0"/>
              <a:t>What is the difference between one-shot and multi-shot prompting in an LLM? Discuss one advantage and one disadvantage from your experiences with the LLMs in Figma, Cursor, Claude, and ChatGPT.</a:t>
            </a:r>
          </a:p>
          <a:p>
            <a:pPr marL="514350" indent="-514350" fontAlgn="b">
              <a:lnSpc>
                <a:spcPct val="120000"/>
              </a:lnSpc>
              <a:buFont typeface="+mj-lt"/>
              <a:buAutoNum type="arabicPeriod"/>
            </a:pPr>
            <a:r>
              <a:rPr lang="en-US" dirty="0"/>
              <a:t>Discuss the challenges of getting the LLM to create a multi-part front end design or implementation? Describe the difficulties in ensuring 1) correctness of each part, 2) consistency across the parts, and 3) accuracy of the results matching your intentions. Tell us how you would test, validate, and refine the outputs. </a:t>
            </a:r>
          </a:p>
          <a:p>
            <a:pPr marL="514350" indent="-514350" fontAlgn="b">
              <a:lnSpc>
                <a:spcPct val="120000"/>
              </a:lnSpc>
              <a:buFont typeface="+mj-lt"/>
              <a:buAutoNum type="arabicPeriod"/>
            </a:pPr>
            <a:r>
              <a:rPr lang="en-US" dirty="0"/>
              <a:t>Discuss the legal and ethical implications of an LLM inadvertently helping you to design a UI that looks like a clone of another application. Have this happened to you before? Have you heard of this happening to others? What would you do if you got an email from the originator of your project's startup saying they saw your clone? </a:t>
            </a:r>
          </a:p>
          <a:p>
            <a:pPr marL="514350" indent="-514350" fontAlgn="b">
              <a:lnSpc>
                <a:spcPct val="120000"/>
              </a:lnSpc>
              <a:buFont typeface="+mj-lt"/>
              <a:buAutoNum type="arabicPeriod"/>
            </a:pPr>
            <a:r>
              <a:rPr lang="en-US" dirty="0"/>
              <a:t>How should an LLM enable you and a colleague to collaborate on the design of a single front end application without both of you typing into the same computer prompt? Speculate on your ideal collaborative system design.</a:t>
            </a:r>
          </a:p>
          <a:p>
            <a:pPr marL="514350" indent="-514350" fontAlgn="b">
              <a:lnSpc>
                <a:spcPct val="120000"/>
              </a:lnSpc>
              <a:buFont typeface="+mj-lt"/>
              <a:buAutoNum type="arabicPeriod"/>
            </a:pPr>
            <a:r>
              <a:rPr lang="en-US" dirty="0"/>
              <a:t>How might the use of LLMs in front-end development change the skills that future developers need to learn? Which skills become more important (e.g., prompt engineering, critical evaluation, system thinking) and which might become less central?</a:t>
            </a:r>
          </a:p>
          <a:p>
            <a:pPr marL="514350" indent="-514350" fontAlgn="b">
              <a:lnSpc>
                <a:spcPct val="120000"/>
              </a:lnSpc>
              <a:buFont typeface="+mj-lt"/>
              <a:buAutoNum type="arabicPeriod"/>
            </a:pPr>
            <a:r>
              <a:rPr lang="en-US" dirty="0"/>
              <a:t>How do you get the LLM to generate half an application, where the other half is not only not yet specified, but not even designed? </a:t>
            </a:r>
          </a:p>
        </p:txBody>
      </p:sp>
    </p:spTree>
    <p:extLst>
      <p:ext uri="{BB962C8B-B14F-4D97-AF65-F5344CB8AC3E}">
        <p14:creationId xmlns:p14="http://schemas.microsoft.com/office/powerpoint/2010/main" val="151053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ADE82-5CCF-F4FE-E3B1-6232BD0439AC}"/>
              </a:ext>
            </a:extLst>
          </p:cNvPr>
          <p:cNvSpPr>
            <a:spLocks noGrp="1"/>
          </p:cNvSpPr>
          <p:nvPr>
            <p:ph type="title"/>
          </p:nvPr>
        </p:nvSpPr>
        <p:spPr/>
        <p:txBody>
          <a:bodyPr/>
          <a:lstStyle/>
          <a:p>
            <a:r>
              <a:rPr lang="en-US" dirty="0"/>
              <a:t>Discussion Instructions</a:t>
            </a:r>
          </a:p>
        </p:txBody>
      </p:sp>
      <p:sp>
        <p:nvSpPr>
          <p:cNvPr id="3" name="Content Placeholder 2">
            <a:extLst>
              <a:ext uri="{FF2B5EF4-FFF2-40B4-BE49-F238E27FC236}">
                <a16:creationId xmlns:a16="http://schemas.microsoft.com/office/drawing/2014/main" id="{95D53EB4-225E-87AF-33BF-E3931D13E2C0}"/>
              </a:ext>
            </a:extLst>
          </p:cNvPr>
          <p:cNvSpPr>
            <a:spLocks noGrp="1"/>
          </p:cNvSpPr>
          <p:nvPr>
            <p:ph idx="1"/>
          </p:nvPr>
        </p:nvSpPr>
        <p:spPr/>
        <p:txBody>
          <a:bodyPr>
            <a:normAutofit fontScale="70000" lnSpcReduction="20000"/>
          </a:bodyPr>
          <a:lstStyle/>
          <a:p>
            <a:pPr>
              <a:lnSpc>
                <a:spcPct val="120000"/>
              </a:lnSpc>
            </a:pPr>
            <a:r>
              <a:rPr lang="en-US" dirty="0"/>
              <a:t>Instructor announces the reflection question.</a:t>
            </a:r>
          </a:p>
          <a:p>
            <a:pPr>
              <a:lnSpc>
                <a:spcPct val="120000"/>
              </a:lnSpc>
            </a:pPr>
            <a:r>
              <a:rPr lang="en-US" dirty="0"/>
              <a:t>If you chose this reflection question to answer for homework, come up to the front. You are the discussant group.</a:t>
            </a:r>
          </a:p>
          <a:p>
            <a:pPr>
              <a:lnSpc>
                <a:spcPct val="120000"/>
              </a:lnSpc>
            </a:pPr>
            <a:r>
              <a:rPr lang="en-US" dirty="0"/>
              <a:t>Class forms into pairs. </a:t>
            </a:r>
          </a:p>
          <a:p>
            <a:pPr>
              <a:lnSpc>
                <a:spcPct val="120000"/>
              </a:lnSpc>
            </a:pPr>
            <a:r>
              <a:rPr lang="en-US" dirty="0"/>
              <a:t>Pairs and discussant group should now reflect on the question by themselves (4 min)</a:t>
            </a:r>
          </a:p>
          <a:p>
            <a:pPr lvl="1">
              <a:lnSpc>
                <a:spcPct val="120000"/>
              </a:lnSpc>
            </a:pPr>
            <a:r>
              <a:rPr lang="en-US" dirty="0"/>
              <a:t>Explain what you think, why, and how you’ve come to your conclusions.</a:t>
            </a:r>
          </a:p>
          <a:p>
            <a:pPr>
              <a:lnSpc>
                <a:spcPct val="120000"/>
              </a:lnSpc>
            </a:pPr>
            <a:r>
              <a:rPr lang="en-US" dirty="0"/>
              <a:t>Each discussant explains their answer to the class (3-4 min)</a:t>
            </a:r>
          </a:p>
          <a:p>
            <a:pPr>
              <a:lnSpc>
                <a:spcPct val="120000"/>
              </a:lnSpc>
            </a:pPr>
            <a:r>
              <a:rPr lang="en-US" dirty="0"/>
              <a:t>Instructor will choose a pair to report their answer to the class (1 min)</a:t>
            </a:r>
          </a:p>
          <a:p>
            <a:pPr>
              <a:lnSpc>
                <a:spcPct val="120000"/>
              </a:lnSpc>
            </a:pPr>
            <a:r>
              <a:rPr lang="en-US" dirty="0"/>
              <a:t>A discussant will respond and connect the answer to their own reflection (1 min) </a:t>
            </a:r>
          </a:p>
          <a:p>
            <a:pPr>
              <a:lnSpc>
                <a:spcPct val="120000"/>
              </a:lnSpc>
            </a:pPr>
            <a:endParaRPr lang="en-US" dirty="0"/>
          </a:p>
        </p:txBody>
      </p:sp>
    </p:spTree>
    <p:extLst>
      <p:ext uri="{BB962C8B-B14F-4D97-AF65-F5344CB8AC3E}">
        <p14:creationId xmlns:p14="http://schemas.microsoft.com/office/powerpoint/2010/main" val="1730207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B1807-813E-8A03-FB0B-0684530B57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2381A-0DB4-B901-AA29-AF8F326F9181}"/>
              </a:ext>
            </a:extLst>
          </p:cNvPr>
          <p:cNvSpPr>
            <a:spLocks noGrp="1"/>
          </p:cNvSpPr>
          <p:nvPr>
            <p:ph type="title"/>
          </p:nvPr>
        </p:nvSpPr>
        <p:spPr/>
        <p:txBody>
          <a:bodyPr/>
          <a:lstStyle/>
          <a:p>
            <a:r>
              <a:rPr lang="en-US" dirty="0"/>
              <a:t>Reflection Prompt</a:t>
            </a:r>
          </a:p>
        </p:txBody>
      </p:sp>
      <p:sp>
        <p:nvSpPr>
          <p:cNvPr id="3" name="Content Placeholder 2">
            <a:extLst>
              <a:ext uri="{FF2B5EF4-FFF2-40B4-BE49-F238E27FC236}">
                <a16:creationId xmlns:a16="http://schemas.microsoft.com/office/drawing/2014/main" id="{117C9A54-2C5B-8BA4-EB09-86AE4122BC4E}"/>
              </a:ext>
            </a:extLst>
          </p:cNvPr>
          <p:cNvSpPr>
            <a:spLocks noGrp="1"/>
          </p:cNvSpPr>
          <p:nvPr>
            <p:ph idx="1"/>
          </p:nvPr>
        </p:nvSpPr>
        <p:spPr/>
        <p:txBody>
          <a:bodyPr/>
          <a:lstStyle/>
          <a:p>
            <a:pPr>
              <a:lnSpc>
                <a:spcPct val="100000"/>
              </a:lnSpc>
            </a:pPr>
            <a:r>
              <a:rPr lang="en-US" dirty="0"/>
              <a:t>How should an LLM enable you and a colleague to collaborate on the design of a single front end application without both of you typing into the same computer prompt? Speculate on your ideal collaborative system design.</a:t>
            </a:r>
          </a:p>
          <a:p>
            <a:endParaRPr lang="en-US" dirty="0"/>
          </a:p>
        </p:txBody>
      </p:sp>
    </p:spTree>
    <p:extLst>
      <p:ext uri="{BB962C8B-B14F-4D97-AF65-F5344CB8AC3E}">
        <p14:creationId xmlns:p14="http://schemas.microsoft.com/office/powerpoint/2010/main" val="3195530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000D8-2B91-0CF7-F027-D22465FA0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6FC2D-527B-FBA1-E40D-A183102F416E}"/>
              </a:ext>
            </a:extLst>
          </p:cNvPr>
          <p:cNvSpPr>
            <a:spLocks noGrp="1"/>
          </p:cNvSpPr>
          <p:nvPr>
            <p:ph type="title"/>
          </p:nvPr>
        </p:nvSpPr>
        <p:spPr/>
        <p:txBody>
          <a:bodyPr/>
          <a:lstStyle/>
          <a:p>
            <a:r>
              <a:rPr lang="en-US" dirty="0"/>
              <a:t>Reflection Prompt</a:t>
            </a:r>
          </a:p>
        </p:txBody>
      </p:sp>
      <p:sp>
        <p:nvSpPr>
          <p:cNvPr id="3" name="Content Placeholder 2">
            <a:extLst>
              <a:ext uri="{FF2B5EF4-FFF2-40B4-BE49-F238E27FC236}">
                <a16:creationId xmlns:a16="http://schemas.microsoft.com/office/drawing/2014/main" id="{863D95D0-8BAA-61EF-2055-9D5D57104774}"/>
              </a:ext>
            </a:extLst>
          </p:cNvPr>
          <p:cNvSpPr>
            <a:spLocks noGrp="1"/>
          </p:cNvSpPr>
          <p:nvPr>
            <p:ph idx="1"/>
          </p:nvPr>
        </p:nvSpPr>
        <p:spPr/>
        <p:txBody>
          <a:bodyPr/>
          <a:lstStyle/>
          <a:p>
            <a:pPr>
              <a:lnSpc>
                <a:spcPct val="100000"/>
              </a:lnSpc>
            </a:pPr>
            <a:r>
              <a:rPr lang="en-US" dirty="0"/>
              <a:t>How might the use of LLMs in front-end development change the skills that future developers need to learn? Which skills become more important (e.g., prompt engineering, critical evaluation, system thinking) and which might become less central?</a:t>
            </a:r>
          </a:p>
          <a:p>
            <a:endParaRPr lang="en-US" dirty="0"/>
          </a:p>
        </p:txBody>
      </p:sp>
    </p:spTree>
    <p:extLst>
      <p:ext uri="{BB962C8B-B14F-4D97-AF65-F5344CB8AC3E}">
        <p14:creationId xmlns:p14="http://schemas.microsoft.com/office/powerpoint/2010/main" val="3514333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36BDA-540F-9B7F-EE0D-0A28069D9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704711-CA57-411F-339A-50F5743DF800}"/>
              </a:ext>
            </a:extLst>
          </p:cNvPr>
          <p:cNvSpPr>
            <a:spLocks noGrp="1"/>
          </p:cNvSpPr>
          <p:nvPr>
            <p:ph type="title"/>
          </p:nvPr>
        </p:nvSpPr>
        <p:spPr/>
        <p:txBody>
          <a:bodyPr/>
          <a:lstStyle/>
          <a:p>
            <a:r>
              <a:rPr lang="en-US" dirty="0"/>
              <a:t>Reflection Prompt</a:t>
            </a:r>
          </a:p>
        </p:txBody>
      </p:sp>
      <p:sp>
        <p:nvSpPr>
          <p:cNvPr id="3" name="Content Placeholder 2">
            <a:extLst>
              <a:ext uri="{FF2B5EF4-FFF2-40B4-BE49-F238E27FC236}">
                <a16:creationId xmlns:a16="http://schemas.microsoft.com/office/drawing/2014/main" id="{77F7DA7F-0710-3036-ECFE-59F4D6E31225}"/>
              </a:ext>
            </a:extLst>
          </p:cNvPr>
          <p:cNvSpPr>
            <a:spLocks noGrp="1"/>
          </p:cNvSpPr>
          <p:nvPr>
            <p:ph idx="1"/>
          </p:nvPr>
        </p:nvSpPr>
        <p:spPr/>
        <p:txBody>
          <a:bodyPr/>
          <a:lstStyle/>
          <a:p>
            <a:pPr>
              <a:lnSpc>
                <a:spcPct val="100000"/>
              </a:lnSpc>
            </a:pPr>
            <a:r>
              <a:rPr lang="en-US" dirty="0"/>
              <a:t>Discuss the legal and ethical implications of an LLM inadvertently helping you to design a UI that looks like a clone of another application. Have this happened to you before? Have you heard of this happening to others? What would you do if you got an email from the originator of your project's startup saying they saw your clone? </a:t>
            </a:r>
          </a:p>
          <a:p>
            <a:endParaRPr lang="en-US" dirty="0"/>
          </a:p>
        </p:txBody>
      </p:sp>
    </p:spTree>
    <p:extLst>
      <p:ext uri="{BB962C8B-B14F-4D97-AF65-F5344CB8AC3E}">
        <p14:creationId xmlns:p14="http://schemas.microsoft.com/office/powerpoint/2010/main" val="408017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8C820-770F-B913-F291-2BC79B0406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02D14-9716-4BDE-27E4-8E55A15D5D2B}"/>
              </a:ext>
            </a:extLst>
          </p:cNvPr>
          <p:cNvSpPr>
            <a:spLocks noGrp="1"/>
          </p:cNvSpPr>
          <p:nvPr>
            <p:ph type="title"/>
          </p:nvPr>
        </p:nvSpPr>
        <p:spPr/>
        <p:txBody>
          <a:bodyPr/>
          <a:lstStyle/>
          <a:p>
            <a:r>
              <a:rPr lang="en-US" dirty="0"/>
              <a:t>Reflection Prompt</a:t>
            </a:r>
          </a:p>
        </p:txBody>
      </p:sp>
      <p:sp>
        <p:nvSpPr>
          <p:cNvPr id="3" name="Content Placeholder 2">
            <a:extLst>
              <a:ext uri="{FF2B5EF4-FFF2-40B4-BE49-F238E27FC236}">
                <a16:creationId xmlns:a16="http://schemas.microsoft.com/office/drawing/2014/main" id="{857F9B1B-D5E5-68EE-7F7A-0FD9902C0266}"/>
              </a:ext>
            </a:extLst>
          </p:cNvPr>
          <p:cNvSpPr>
            <a:spLocks noGrp="1"/>
          </p:cNvSpPr>
          <p:nvPr>
            <p:ph idx="1"/>
          </p:nvPr>
        </p:nvSpPr>
        <p:spPr/>
        <p:txBody>
          <a:bodyPr/>
          <a:lstStyle/>
          <a:p>
            <a:pPr>
              <a:lnSpc>
                <a:spcPct val="100000"/>
              </a:lnSpc>
            </a:pPr>
            <a:r>
              <a:rPr lang="en-US" dirty="0"/>
              <a:t>How do you get the LLM to generate half an application, where the other half is not only not yet specified, but not even designed? </a:t>
            </a:r>
          </a:p>
          <a:p>
            <a:endParaRPr lang="en-US" dirty="0"/>
          </a:p>
        </p:txBody>
      </p:sp>
    </p:spTree>
    <p:extLst>
      <p:ext uri="{BB962C8B-B14F-4D97-AF65-F5344CB8AC3E}">
        <p14:creationId xmlns:p14="http://schemas.microsoft.com/office/powerpoint/2010/main" val="2881798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86A64-3720-F43C-AB99-8E40AE24A16E}"/>
              </a:ext>
            </a:extLst>
          </p:cNvPr>
          <p:cNvSpPr>
            <a:spLocks noGrp="1"/>
          </p:cNvSpPr>
          <p:nvPr>
            <p:ph type="title"/>
          </p:nvPr>
        </p:nvSpPr>
        <p:spPr/>
        <p:txBody>
          <a:bodyPr/>
          <a:lstStyle/>
          <a:p>
            <a:r>
              <a:rPr lang="en-US" dirty="0"/>
              <a:t>Reflection Prompt</a:t>
            </a:r>
          </a:p>
        </p:txBody>
      </p:sp>
      <p:sp>
        <p:nvSpPr>
          <p:cNvPr id="3" name="Content Placeholder 2">
            <a:extLst>
              <a:ext uri="{FF2B5EF4-FFF2-40B4-BE49-F238E27FC236}">
                <a16:creationId xmlns:a16="http://schemas.microsoft.com/office/drawing/2014/main" id="{D2BAF255-BD4D-EACF-ECC3-CE04F54D0471}"/>
              </a:ext>
            </a:extLst>
          </p:cNvPr>
          <p:cNvSpPr>
            <a:spLocks noGrp="1"/>
          </p:cNvSpPr>
          <p:nvPr>
            <p:ph idx="1"/>
          </p:nvPr>
        </p:nvSpPr>
        <p:spPr/>
        <p:txBody>
          <a:bodyPr/>
          <a:lstStyle/>
          <a:p>
            <a:pPr>
              <a:lnSpc>
                <a:spcPct val="100000"/>
              </a:lnSpc>
            </a:pPr>
            <a:r>
              <a:rPr lang="en-US" dirty="0"/>
              <a:t>What is the difference between one-shot and multi-shot prompting in an LLM? Discuss one advantage and one disadvantage from your experiences with the LLMs in Figma, Cursor, Claude, and ChatGPT.</a:t>
            </a:r>
          </a:p>
          <a:p>
            <a:endParaRPr lang="en-US" dirty="0"/>
          </a:p>
        </p:txBody>
      </p:sp>
    </p:spTree>
    <p:extLst>
      <p:ext uri="{BB962C8B-B14F-4D97-AF65-F5344CB8AC3E}">
        <p14:creationId xmlns:p14="http://schemas.microsoft.com/office/powerpoint/2010/main" val="1273086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99A77-BBD7-9A96-EA9C-F4E73A242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EFCB3-9EAC-394D-9326-8F059771E6F5}"/>
              </a:ext>
            </a:extLst>
          </p:cNvPr>
          <p:cNvSpPr>
            <a:spLocks noGrp="1"/>
          </p:cNvSpPr>
          <p:nvPr>
            <p:ph type="title"/>
          </p:nvPr>
        </p:nvSpPr>
        <p:spPr/>
        <p:txBody>
          <a:bodyPr/>
          <a:lstStyle/>
          <a:p>
            <a:r>
              <a:rPr lang="en-US" dirty="0"/>
              <a:t>Reflection Prompt</a:t>
            </a:r>
          </a:p>
        </p:txBody>
      </p:sp>
      <p:sp>
        <p:nvSpPr>
          <p:cNvPr id="3" name="Content Placeholder 2">
            <a:extLst>
              <a:ext uri="{FF2B5EF4-FFF2-40B4-BE49-F238E27FC236}">
                <a16:creationId xmlns:a16="http://schemas.microsoft.com/office/drawing/2014/main" id="{6672CC56-113C-049B-140F-7495C84B6AA2}"/>
              </a:ext>
            </a:extLst>
          </p:cNvPr>
          <p:cNvSpPr>
            <a:spLocks noGrp="1"/>
          </p:cNvSpPr>
          <p:nvPr>
            <p:ph idx="1"/>
          </p:nvPr>
        </p:nvSpPr>
        <p:spPr/>
        <p:txBody>
          <a:bodyPr/>
          <a:lstStyle/>
          <a:p>
            <a:pPr>
              <a:lnSpc>
                <a:spcPct val="100000"/>
              </a:lnSpc>
            </a:pPr>
            <a:r>
              <a:rPr lang="en-US" dirty="0"/>
              <a:t>Discuss the challenges of getting the LLM to create a multi-part front end design or implementation? Describe the difficulties in ensuring 1) correctness of each part, 2) consistency across the parts, and 3) accuracy of the results matching your intentions. Tell us how you would test, validate, and refine the outputs. </a:t>
            </a:r>
          </a:p>
          <a:p>
            <a:endParaRPr lang="en-US" dirty="0"/>
          </a:p>
        </p:txBody>
      </p:sp>
    </p:spTree>
    <p:extLst>
      <p:ext uri="{BB962C8B-B14F-4D97-AF65-F5344CB8AC3E}">
        <p14:creationId xmlns:p14="http://schemas.microsoft.com/office/powerpoint/2010/main" val="4072204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E398B-7E69-01D3-B3D8-C37A6EFE9275}"/>
              </a:ext>
            </a:extLst>
          </p:cNvPr>
          <p:cNvSpPr>
            <a:spLocks noGrp="1"/>
          </p:cNvSpPr>
          <p:nvPr>
            <p:ph type="title"/>
          </p:nvPr>
        </p:nvSpPr>
        <p:spPr/>
        <p:txBody>
          <a:bodyPr/>
          <a:lstStyle/>
          <a:p>
            <a:r>
              <a:rPr lang="en-US" dirty="0"/>
              <a:t>Next Class</a:t>
            </a:r>
          </a:p>
        </p:txBody>
      </p:sp>
      <p:sp>
        <p:nvSpPr>
          <p:cNvPr id="3" name="Content Placeholder 2">
            <a:extLst>
              <a:ext uri="{FF2B5EF4-FFF2-40B4-BE49-F238E27FC236}">
                <a16:creationId xmlns:a16="http://schemas.microsoft.com/office/drawing/2014/main" id="{54ED4B8E-E1F2-94A7-1B8C-E255CF27A433}"/>
              </a:ext>
            </a:extLst>
          </p:cNvPr>
          <p:cNvSpPr>
            <a:spLocks noGrp="1"/>
          </p:cNvSpPr>
          <p:nvPr>
            <p:ph idx="1"/>
          </p:nvPr>
        </p:nvSpPr>
        <p:spPr/>
        <p:txBody>
          <a:bodyPr/>
          <a:lstStyle/>
          <a:p>
            <a:r>
              <a:rPr lang="en-US" dirty="0"/>
              <a:t>Backend Development!</a:t>
            </a:r>
          </a:p>
          <a:p>
            <a:r>
              <a:rPr lang="en-US" dirty="0"/>
              <a:t>P3: Frontend Development due 11:59pm tonight.</a:t>
            </a:r>
          </a:p>
          <a:p>
            <a:endParaRPr lang="en-US" dirty="0"/>
          </a:p>
        </p:txBody>
      </p:sp>
    </p:spTree>
    <p:extLst>
      <p:ext uri="{BB962C8B-B14F-4D97-AF65-F5344CB8AC3E}">
        <p14:creationId xmlns:p14="http://schemas.microsoft.com/office/powerpoint/2010/main" val="3539964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cture-Slide-Template" id="{F4D1CAFB-B1AB-D349-A2C4-6E34248A8882}" vid="{80B8233C-D027-8B49-9660-A2B63453EE63}"/>
    </a:ext>
  </a:extLst>
</a:theme>
</file>

<file path=docProps/app.xml><?xml version="1.0" encoding="utf-8"?>
<Properties xmlns="http://schemas.openxmlformats.org/officeDocument/2006/extended-properties" xmlns:vt="http://schemas.openxmlformats.org/officeDocument/2006/docPropsVTypes">
  <Template>Office Theme</Template>
  <TotalTime>22</TotalTime>
  <Words>706</Words>
  <Application>Microsoft Macintosh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Open Sans</vt:lpstr>
      <vt:lpstr>Office Theme</vt:lpstr>
      <vt:lpstr>Discussion on Frontend Development</vt:lpstr>
      <vt:lpstr>Reflection prompts this week</vt:lpstr>
      <vt:lpstr>Discussion Instructions</vt:lpstr>
      <vt:lpstr>Reflection Prompt</vt:lpstr>
      <vt:lpstr>Reflection Prompt</vt:lpstr>
      <vt:lpstr>Reflection Prompt</vt:lpstr>
      <vt:lpstr>Reflection Prompt</vt:lpstr>
      <vt:lpstr>Reflection Prompt</vt:lpstr>
      <vt:lpstr>Reflection Prompt</vt:lpstr>
      <vt:lpstr>Next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Begel</dc:creator>
  <cp:lastModifiedBy>Andrew Begel</cp:lastModifiedBy>
  <cp:revision>4</cp:revision>
  <dcterms:created xsi:type="dcterms:W3CDTF">2025-09-30T23:58:33Z</dcterms:created>
  <dcterms:modified xsi:type="dcterms:W3CDTF">2025-10-01T00:23:33Z</dcterms:modified>
</cp:coreProperties>
</file>
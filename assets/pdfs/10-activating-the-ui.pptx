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75" r:id="rId3"/>
    <p:sldId id="258" r:id="rId4"/>
    <p:sldId id="280" r:id="rId5"/>
    <p:sldId id="274" r:id="rId6"/>
    <p:sldId id="277" r:id="rId7"/>
    <p:sldId id="278" r:id="rId8"/>
    <p:sldId id="268" r:id="rId9"/>
    <p:sldId id="279" r:id="rId10"/>
    <p:sldId id="267" r:id="rId11"/>
    <p:sldId id="270" r:id="rId12"/>
    <p:sldId id="271" r:id="rId13"/>
    <p:sldId id="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893"/>
    <p:restoredTop sz="65928"/>
  </p:normalViewPr>
  <p:slideViewPr>
    <p:cSldViewPr snapToGrid="0">
      <p:cViewPr varScale="1">
        <p:scale>
          <a:sx n="76" d="100"/>
          <a:sy n="76" d="100"/>
        </p:scale>
        <p:origin x="7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7191C1-E840-7B47-B8D5-612851824084}" type="datetimeFigureOut">
              <a:rPr lang="en-US" smtClean="0"/>
              <a:t>9/29/25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78C5A4-2862-9845-B04E-700B402A1518}" type="slidenum">
              <a:rPr lang="en-US" smtClean="0"/>
              <a:t>‹#›</a:t>
            </a:fld>
            <a:endParaRPr lang="en-US"/>
          </a:p>
        </p:txBody>
      </p:sp>
    </p:spTree>
    <p:extLst>
      <p:ext uri="{BB962C8B-B14F-4D97-AF65-F5344CB8AC3E}">
        <p14:creationId xmlns:p14="http://schemas.microsoft.com/office/powerpoint/2010/main" val="2303362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Your goal is to create the UI screen for showing a person's profile picture so that the user can decide whether they like, reject, or super like that person. The UI should look like the attached picture. A profile should have a name, age, blue verified checkmark icon, a multi-line list of keywords, and a navbar at the bottom with five circular buttons laid out horizontally, labeled reset, reject, remember, like, and </a:t>
            </a:r>
            <a:r>
              <a:rPr lang="en-US" sz="1200" b="0" i="0" kern="1200" dirty="0" err="1">
                <a:solidFill>
                  <a:schemeClr val="tx1"/>
                </a:solidFill>
                <a:effectLst/>
                <a:latin typeface="+mn-lt"/>
                <a:ea typeface="+mn-ea"/>
                <a:cs typeface="+mn-cs"/>
              </a:rPr>
              <a:t>superlike</a:t>
            </a:r>
            <a:r>
              <a:rPr lang="en-US" sz="1200" b="0" i="0" kern="1200" dirty="0">
                <a:solidFill>
                  <a:schemeClr val="tx1"/>
                </a:solidFill>
                <a:effectLst/>
                <a:latin typeface="+mn-lt"/>
                <a:ea typeface="+mn-ea"/>
                <a:cs typeface="+mn-cs"/>
              </a:rPr>
              <a:t>. The UI should hold a stack of profiles so that the user can change between them using the buttons in the navbar or swipe actions. Do not stub or implement any user input event handlers. The app you create should be programmed in </a:t>
            </a:r>
            <a:r>
              <a:rPr lang="en-US" sz="1200" b="0" i="0" kern="1200" dirty="0" err="1">
                <a:solidFill>
                  <a:schemeClr val="tx1"/>
                </a:solidFill>
                <a:effectLst/>
                <a:latin typeface="+mn-lt"/>
                <a:ea typeface="+mn-ea"/>
                <a:cs typeface="+mn-cs"/>
              </a:rPr>
              <a:t>Javascript</a:t>
            </a:r>
            <a:r>
              <a:rPr lang="en-US" sz="1200" b="0" i="0" kern="1200" dirty="0">
                <a:solidFill>
                  <a:schemeClr val="tx1"/>
                </a:solidFill>
                <a:effectLst/>
                <a:latin typeface="+mn-lt"/>
                <a:ea typeface="+mn-ea"/>
                <a:cs typeface="+mn-cs"/>
              </a:rPr>
              <a:t> using the React framework. When started up, it should show the first profile. Profile data will be stored as individual JSON files in a profiles/ subdirectory. Create a template JSON file for a profile in the profiles subdirectory so that we can easily generate fake profiles for testing.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Change the app to load profile </a:t>
            </a:r>
            <a:r>
              <a:rPr lang="en-US" sz="1200" b="0" i="0" kern="1200" dirty="0" err="1">
                <a:solidFill>
                  <a:schemeClr val="tx1"/>
                </a:solidFill>
                <a:effectLst/>
                <a:latin typeface="+mn-lt"/>
                <a:ea typeface="+mn-ea"/>
                <a:cs typeface="+mn-cs"/>
              </a:rPr>
              <a:t>json</a:t>
            </a:r>
            <a:r>
              <a:rPr lang="en-US" sz="1200" b="0" i="0" kern="1200" dirty="0">
                <a:solidFill>
                  <a:schemeClr val="tx1"/>
                </a:solidFill>
                <a:effectLst/>
                <a:latin typeface="+mn-lt"/>
                <a:ea typeface="+mn-ea"/>
                <a:cs typeface="+mn-cs"/>
              </a:rPr>
              <a:t> files dynamically from the profiles subdirectory instead of writing them in the </a:t>
            </a:r>
            <a:r>
              <a:rPr lang="en-US" sz="1200" b="0" i="0" kern="1200" dirty="0" err="1">
                <a:solidFill>
                  <a:schemeClr val="tx1"/>
                </a:solidFill>
                <a:effectLst/>
                <a:latin typeface="+mn-lt"/>
                <a:ea typeface="+mn-ea"/>
                <a:cs typeface="+mn-cs"/>
              </a:rPr>
              <a:t>sampleProfiles</a:t>
            </a:r>
            <a:r>
              <a:rPr lang="en-US" sz="1200" b="0" i="0" kern="1200" dirty="0">
                <a:solidFill>
                  <a:schemeClr val="tx1"/>
                </a:solidFill>
                <a:effectLst/>
                <a:latin typeface="+mn-lt"/>
                <a:ea typeface="+mn-ea"/>
                <a:cs typeface="+mn-cs"/>
              </a:rPr>
              <a:t> variable in </a:t>
            </a:r>
            <a:r>
              <a:rPr lang="en-US" sz="1200" b="0" i="0" kern="1200" dirty="0" err="1">
                <a:solidFill>
                  <a:schemeClr val="tx1"/>
                </a:solidFill>
                <a:effectLst/>
                <a:latin typeface="+mn-lt"/>
                <a:ea typeface="+mn-ea"/>
                <a:cs typeface="+mn-cs"/>
              </a:rPr>
              <a:t>App.js</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2678C5A4-2862-9845-B04E-700B402A1518}" type="slidenum">
              <a:rPr lang="en-US" smtClean="0"/>
              <a:t>4</a:t>
            </a:fld>
            <a:endParaRPr lang="en-US"/>
          </a:p>
        </p:txBody>
      </p:sp>
    </p:spTree>
    <p:extLst>
      <p:ext uri="{BB962C8B-B14F-4D97-AF65-F5344CB8AC3E}">
        <p14:creationId xmlns:p14="http://schemas.microsoft.com/office/powerpoint/2010/main" val="1640337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100000"/>
              </a:lnSpc>
            </a:pPr>
            <a:r>
              <a:rPr lang="en-US" dirty="0"/>
              <a:t>You are an architect. What is the purpose of this code? Explain the high-level structure and any design patterns used.</a:t>
            </a:r>
          </a:p>
          <a:p>
            <a:pPr lvl="1">
              <a:lnSpc>
                <a:spcPct val="100000"/>
              </a:lnSpc>
            </a:pPr>
            <a:r>
              <a:rPr lang="en-US" dirty="0"/>
              <a:t>You are a developer concerned about performance. Show me the performance bottlenecks.</a:t>
            </a:r>
          </a:p>
          <a:p>
            <a:pPr lvl="1">
              <a:lnSpc>
                <a:spcPct val="100000"/>
              </a:lnSpc>
            </a:pPr>
            <a:r>
              <a:rPr lang="en-US" dirty="0"/>
              <a:t>You are a tester. Show me where all the test cases are. What parts of the code need more tests?</a:t>
            </a:r>
          </a:p>
          <a:p>
            <a:pPr lvl="1">
              <a:lnSpc>
                <a:spcPct val="100000"/>
              </a:lnSpc>
            </a:pPr>
            <a:r>
              <a:rPr lang="en-US" dirty="0"/>
              <a:t>You are a security analyst. Tell me where the code needs to be hardened further against adversaries.</a:t>
            </a:r>
          </a:p>
          <a:p>
            <a:endParaRPr lang="en-US" dirty="0"/>
          </a:p>
        </p:txBody>
      </p:sp>
      <p:sp>
        <p:nvSpPr>
          <p:cNvPr id="4" name="Slide Number Placeholder 3"/>
          <p:cNvSpPr>
            <a:spLocks noGrp="1"/>
          </p:cNvSpPr>
          <p:nvPr>
            <p:ph type="sldNum" sz="quarter" idx="5"/>
          </p:nvPr>
        </p:nvSpPr>
        <p:spPr/>
        <p:txBody>
          <a:bodyPr/>
          <a:lstStyle/>
          <a:p>
            <a:fld id="{2678C5A4-2862-9845-B04E-700B402A1518}" type="slidenum">
              <a:rPr lang="en-US" smtClean="0"/>
              <a:t>11</a:t>
            </a:fld>
            <a:endParaRPr lang="en-US"/>
          </a:p>
        </p:txBody>
      </p:sp>
    </p:spTree>
    <p:extLst>
      <p:ext uri="{BB962C8B-B14F-4D97-AF65-F5344CB8AC3E}">
        <p14:creationId xmlns:p14="http://schemas.microsoft.com/office/powerpoint/2010/main" val="1697084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7FC97-C833-739B-93FC-8C2BC005407C}"/>
              </a:ext>
            </a:extLst>
          </p:cNvPr>
          <p:cNvSpPr>
            <a:spLocks noGrp="1"/>
          </p:cNvSpPr>
          <p:nvPr>
            <p:ph type="ctrTitle"/>
          </p:nvPr>
        </p:nvSpPr>
        <p:spPr>
          <a:xfrm>
            <a:off x="1524000" y="1122363"/>
            <a:ext cx="9144000" cy="2387600"/>
          </a:xfrm>
        </p:spPr>
        <p:txBody>
          <a:bodyPr anchor="b"/>
          <a:lstStyle>
            <a:lvl1pPr algn="ctr">
              <a:defRPr sz="6000">
                <a:solidFill>
                  <a:srgbClr val="AE0000"/>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7DCB164-CC99-3D9C-0D3C-D3B787E294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77327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8D410-3D34-D560-E8EF-271128797B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7A0987-9BD6-8FF3-3ABB-4A90C9A022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1928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D15D1-6FE3-F312-9A1F-209AEE0A3E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EBC72F-C23E-5E65-BD47-06C26C8EF4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019390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E4C69-408F-5891-A66D-D9A330F82A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203E41-4006-88BF-2856-0CF0CEE964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E34D11-884F-6D04-4443-962EF42409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4529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CFEDF-5226-9B28-A1E8-F1342598521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E489E5-77A8-FC2C-B8F5-CCD76D652F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8D7E48-4F0F-3E43-A99E-33356DFF10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A0F75B-0F34-D2DA-0334-1E63AC47A6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E4C719-F84C-671C-79CD-3E38CB6F0D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283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12300-4F28-7EDE-10FA-82383144B3D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94098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1344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D105-E26A-C8BC-31B1-6E2BD93E53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E843BF-40B8-2FC1-8B25-737CBA31EF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71FC43-18D7-9101-7321-15B0477A41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452928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B1FF7-5D48-62C2-5225-C8003FE7B7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7627A9-23C6-1ADE-1864-7A98F408C9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06815AB-7919-292C-9D75-F004DC41E3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193700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89547B-A6AC-DAA3-9B5B-1C77DA85FE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397CECE-FCD5-3AB1-0A27-410A40701E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hape 10">
            <a:extLst>
              <a:ext uri="{FF2B5EF4-FFF2-40B4-BE49-F238E27FC236}">
                <a16:creationId xmlns:a16="http://schemas.microsoft.com/office/drawing/2014/main" id="{5CB8F563-FF3E-F8ED-61E5-E09A93215B8A}"/>
              </a:ext>
            </a:extLst>
          </p:cNvPr>
          <p:cNvSpPr/>
          <p:nvPr userDrawn="1"/>
        </p:nvSpPr>
        <p:spPr>
          <a:xfrm>
            <a:off x="0" y="6311900"/>
            <a:ext cx="12192000" cy="546002"/>
          </a:xfrm>
          <a:prstGeom prst="rect">
            <a:avLst/>
          </a:prstGeom>
          <a:solidFill>
            <a:srgbClr val="585858"/>
          </a:solidFill>
          <a:ln w="12700">
            <a:miter lim="400000"/>
          </a:ln>
        </p:spPr>
        <p:txBody>
          <a:bodyPr lIns="0" tIns="0" rIns="0" bIns="0" anchor="ctr"/>
          <a:lstStyle/>
          <a:p>
            <a:endParaRPr sz="1400"/>
          </a:p>
        </p:txBody>
      </p:sp>
      <p:pic>
        <p:nvPicPr>
          <p:cNvPr id="8" name="Picture 7">
            <a:extLst>
              <a:ext uri="{FF2B5EF4-FFF2-40B4-BE49-F238E27FC236}">
                <a16:creationId xmlns:a16="http://schemas.microsoft.com/office/drawing/2014/main" id="{BE58C5B4-BAB4-38D5-E83D-7BAE33628F93}"/>
              </a:ext>
            </a:extLst>
          </p:cNvPr>
          <p:cNvPicPr>
            <a:picLocks noChangeAspect="1"/>
          </p:cNvPicPr>
          <p:nvPr userDrawn="1"/>
        </p:nvPicPr>
        <p:blipFill rotWithShape="1">
          <a:blip r:embed="rId11"/>
          <a:srcRect t="1" r="51173" b="-3824"/>
          <a:stretch/>
        </p:blipFill>
        <p:spPr>
          <a:xfrm>
            <a:off x="23170" y="6344507"/>
            <a:ext cx="1290623" cy="513395"/>
          </a:xfrm>
          <a:prstGeom prst="rect">
            <a:avLst/>
          </a:prstGeom>
        </p:spPr>
      </p:pic>
      <p:pic>
        <p:nvPicPr>
          <p:cNvPr id="10" name="Picture 9">
            <a:extLst>
              <a:ext uri="{FF2B5EF4-FFF2-40B4-BE49-F238E27FC236}">
                <a16:creationId xmlns:a16="http://schemas.microsoft.com/office/drawing/2014/main" id="{0F32B292-45BD-CD2A-B216-340291B3048A}"/>
              </a:ext>
            </a:extLst>
          </p:cNvPr>
          <p:cNvPicPr>
            <a:picLocks noChangeAspect="1"/>
          </p:cNvPicPr>
          <p:nvPr userDrawn="1"/>
        </p:nvPicPr>
        <p:blipFill>
          <a:blip r:embed="rId12"/>
          <a:stretch>
            <a:fillRect/>
          </a:stretch>
        </p:blipFill>
        <p:spPr>
          <a:xfrm>
            <a:off x="11314734" y="6330975"/>
            <a:ext cx="856698" cy="546002"/>
          </a:xfrm>
          <a:prstGeom prst="rect">
            <a:avLst/>
          </a:prstGeom>
        </p:spPr>
      </p:pic>
    </p:spTree>
    <p:extLst>
      <p:ext uri="{BB962C8B-B14F-4D97-AF65-F5344CB8AC3E}">
        <p14:creationId xmlns:p14="http://schemas.microsoft.com/office/powerpoint/2010/main" val="4209893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rgbClr val="AE0000"/>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mu-05-499.github.io/"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AF418-1E88-B3CF-67F3-3B5F542A8A8F}"/>
              </a:ext>
            </a:extLst>
          </p:cNvPr>
          <p:cNvSpPr>
            <a:spLocks noGrp="1"/>
          </p:cNvSpPr>
          <p:nvPr>
            <p:ph type="ctrTitle"/>
          </p:nvPr>
        </p:nvSpPr>
        <p:spPr/>
        <p:txBody>
          <a:bodyPr/>
          <a:lstStyle/>
          <a:p>
            <a:r>
              <a:rPr lang="en-US" dirty="0"/>
              <a:t>Activating Your UI</a:t>
            </a:r>
          </a:p>
        </p:txBody>
      </p:sp>
      <p:sp>
        <p:nvSpPr>
          <p:cNvPr id="3" name="Subtitle 2">
            <a:extLst>
              <a:ext uri="{FF2B5EF4-FFF2-40B4-BE49-F238E27FC236}">
                <a16:creationId xmlns:a16="http://schemas.microsoft.com/office/drawing/2014/main" id="{70F26284-8867-6248-DFB2-F714AF8C59B5}"/>
              </a:ext>
            </a:extLst>
          </p:cNvPr>
          <p:cNvSpPr>
            <a:spLocks noGrp="1"/>
          </p:cNvSpPr>
          <p:nvPr>
            <p:ph type="subTitle" idx="1"/>
          </p:nvPr>
        </p:nvSpPr>
        <p:spPr/>
        <p:txBody>
          <a:bodyPr>
            <a:normAutofit lnSpcReduction="10000"/>
          </a:bodyPr>
          <a:lstStyle/>
          <a:p>
            <a:r>
              <a:rPr lang="en-US" dirty="0"/>
              <a:t>17-316/616 Fall 2025</a:t>
            </a:r>
          </a:p>
          <a:p>
            <a:r>
              <a:rPr lang="en-US" dirty="0">
                <a:solidFill>
                  <a:srgbClr val="AE0000"/>
                </a:solidFill>
              </a:rPr>
              <a:t>AI Tools for Software Development</a:t>
            </a:r>
          </a:p>
          <a:p>
            <a:r>
              <a:rPr lang="en-US" dirty="0">
                <a:hlinkClick r:id="rId2"/>
              </a:rPr>
              <a:t>https://ai-developer-tools.github.io</a:t>
            </a:r>
            <a:endParaRPr lang="en-US" dirty="0"/>
          </a:p>
          <a:p>
            <a:r>
              <a:rPr lang="en-US" dirty="0"/>
              <a:t>Austin Henley and Andrew Begel</a:t>
            </a:r>
          </a:p>
        </p:txBody>
      </p:sp>
    </p:spTree>
    <p:extLst>
      <p:ext uri="{BB962C8B-B14F-4D97-AF65-F5344CB8AC3E}">
        <p14:creationId xmlns:p14="http://schemas.microsoft.com/office/powerpoint/2010/main" val="279767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2B6F-F38F-6A9B-622F-79FF98717BAF}"/>
              </a:ext>
            </a:extLst>
          </p:cNvPr>
          <p:cNvSpPr>
            <a:spLocks noGrp="1"/>
          </p:cNvSpPr>
          <p:nvPr>
            <p:ph type="title"/>
          </p:nvPr>
        </p:nvSpPr>
        <p:spPr/>
        <p:txBody>
          <a:bodyPr/>
          <a:lstStyle/>
          <a:p>
            <a:r>
              <a:rPr lang="en-US" dirty="0"/>
              <a:t>Today</a:t>
            </a:r>
          </a:p>
        </p:txBody>
      </p:sp>
      <p:sp>
        <p:nvSpPr>
          <p:cNvPr id="3" name="Content Placeholder 2">
            <a:extLst>
              <a:ext uri="{FF2B5EF4-FFF2-40B4-BE49-F238E27FC236}">
                <a16:creationId xmlns:a16="http://schemas.microsoft.com/office/drawing/2014/main" id="{1D9CAA66-A3F0-18EE-A6DE-C30DFF19BE78}"/>
              </a:ext>
            </a:extLst>
          </p:cNvPr>
          <p:cNvSpPr>
            <a:spLocks noGrp="1"/>
          </p:cNvSpPr>
          <p:nvPr>
            <p:ph idx="1"/>
          </p:nvPr>
        </p:nvSpPr>
        <p:spPr/>
        <p:txBody>
          <a:bodyPr/>
          <a:lstStyle/>
          <a:p>
            <a:r>
              <a:rPr lang="en-US" dirty="0"/>
              <a:t>Project Team Meeting</a:t>
            </a:r>
          </a:p>
          <a:p>
            <a:r>
              <a:rPr lang="en-US" dirty="0"/>
              <a:t>LLM Prompt Templates</a:t>
            </a:r>
          </a:p>
          <a:p>
            <a:r>
              <a:rPr lang="en-US" dirty="0"/>
              <a:t>UI Event Handlers</a:t>
            </a:r>
          </a:p>
          <a:p>
            <a:r>
              <a:rPr lang="en-US" dirty="0"/>
              <a:t>Code Review via LLM</a:t>
            </a:r>
          </a:p>
          <a:p>
            <a:endParaRPr lang="en-US" dirty="0"/>
          </a:p>
          <a:p>
            <a:r>
              <a:rPr lang="en-US" dirty="0"/>
              <a:t>Also, HW3: Reflection essay is now 400-550 words.</a:t>
            </a:r>
          </a:p>
          <a:p>
            <a:endParaRPr lang="en-US" dirty="0"/>
          </a:p>
        </p:txBody>
      </p:sp>
    </p:spTree>
    <p:extLst>
      <p:ext uri="{BB962C8B-B14F-4D97-AF65-F5344CB8AC3E}">
        <p14:creationId xmlns:p14="http://schemas.microsoft.com/office/powerpoint/2010/main" val="4134938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28FC2-C5D8-EB28-74CB-930C019CD0D1}"/>
              </a:ext>
            </a:extLst>
          </p:cNvPr>
          <p:cNvSpPr>
            <a:spLocks noGrp="1"/>
          </p:cNvSpPr>
          <p:nvPr>
            <p:ph type="title"/>
          </p:nvPr>
        </p:nvSpPr>
        <p:spPr/>
        <p:txBody>
          <a:bodyPr/>
          <a:lstStyle/>
          <a:p>
            <a:r>
              <a:rPr lang="en-US" dirty="0"/>
              <a:t>Project Team Meeting</a:t>
            </a:r>
          </a:p>
        </p:txBody>
      </p:sp>
      <p:sp>
        <p:nvSpPr>
          <p:cNvPr id="3" name="Content Placeholder 2">
            <a:extLst>
              <a:ext uri="{FF2B5EF4-FFF2-40B4-BE49-F238E27FC236}">
                <a16:creationId xmlns:a16="http://schemas.microsoft.com/office/drawing/2014/main" id="{288A2274-1E86-0EE5-0AFB-365B2AD2FC0E}"/>
              </a:ext>
            </a:extLst>
          </p:cNvPr>
          <p:cNvSpPr>
            <a:spLocks noGrp="1"/>
          </p:cNvSpPr>
          <p:nvPr>
            <p:ph idx="1"/>
          </p:nvPr>
        </p:nvSpPr>
        <p:spPr/>
        <p:txBody>
          <a:bodyPr/>
          <a:lstStyle/>
          <a:p>
            <a:r>
              <a:rPr lang="en-US" dirty="0"/>
              <a:t>Spend the next 15 minutes to meet with your team.</a:t>
            </a:r>
          </a:p>
          <a:p>
            <a:r>
              <a:rPr lang="en-US" dirty="0"/>
              <a:t>Work on P3: Frontend Development.</a:t>
            </a:r>
          </a:p>
          <a:p>
            <a:r>
              <a:rPr lang="en-US" dirty="0"/>
              <a:t>P3 deadline extended to Sunday Oct 5, 11:59pm</a:t>
            </a:r>
          </a:p>
          <a:p>
            <a:endParaRPr lang="en-US" dirty="0"/>
          </a:p>
        </p:txBody>
      </p:sp>
    </p:spTree>
    <p:extLst>
      <p:ext uri="{BB962C8B-B14F-4D97-AF65-F5344CB8AC3E}">
        <p14:creationId xmlns:p14="http://schemas.microsoft.com/office/powerpoint/2010/main" val="205577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82B2-C393-9253-5177-C5EE88F2A6AF}"/>
              </a:ext>
            </a:extLst>
          </p:cNvPr>
          <p:cNvSpPr>
            <a:spLocks noGrp="1"/>
          </p:cNvSpPr>
          <p:nvPr>
            <p:ph type="title"/>
          </p:nvPr>
        </p:nvSpPr>
        <p:spPr/>
        <p:txBody>
          <a:bodyPr/>
          <a:lstStyle/>
          <a:p>
            <a:r>
              <a:rPr lang="en-US" dirty="0"/>
              <a:t>Let’s make Tinder</a:t>
            </a:r>
            <a:br>
              <a:rPr lang="en-US" dirty="0"/>
            </a:br>
            <a:r>
              <a:rPr lang="en-US" dirty="0"/>
              <a:t>with Cursor</a:t>
            </a:r>
          </a:p>
        </p:txBody>
      </p:sp>
      <p:sp>
        <p:nvSpPr>
          <p:cNvPr id="6" name="Content Placeholder 5">
            <a:extLst>
              <a:ext uri="{FF2B5EF4-FFF2-40B4-BE49-F238E27FC236}">
                <a16:creationId xmlns:a16="http://schemas.microsoft.com/office/drawing/2014/main" id="{CFB153DA-69AF-E864-3BC4-0F8BE6744096}"/>
              </a:ext>
            </a:extLst>
          </p:cNvPr>
          <p:cNvSpPr>
            <a:spLocks noGrp="1"/>
          </p:cNvSpPr>
          <p:nvPr>
            <p:ph sz="half" idx="1"/>
          </p:nvPr>
        </p:nvSpPr>
        <p:spPr/>
        <p:txBody>
          <a:bodyPr/>
          <a:lstStyle/>
          <a:p>
            <a:r>
              <a:rPr lang="en-US" dirty="0"/>
              <a:t>Clone the code from https://</a:t>
            </a:r>
            <a:r>
              <a:rPr lang="en-US" dirty="0" err="1"/>
              <a:t>github.com</a:t>
            </a:r>
            <a:r>
              <a:rPr lang="en-US" dirty="0"/>
              <a:t>/AI-Developer-Tools/ai-tinder</a:t>
            </a:r>
          </a:p>
        </p:txBody>
      </p:sp>
      <p:pic>
        <p:nvPicPr>
          <p:cNvPr id="7" name="Content Placeholder 3">
            <a:extLst>
              <a:ext uri="{FF2B5EF4-FFF2-40B4-BE49-F238E27FC236}">
                <a16:creationId xmlns:a16="http://schemas.microsoft.com/office/drawing/2014/main" id="{36DA3F87-D57B-1CD2-17EB-51BD2A321265}"/>
              </a:ext>
            </a:extLst>
          </p:cNvPr>
          <p:cNvPicPr>
            <a:picLocks noGrp="1" noChangeAspect="1"/>
          </p:cNvPicPr>
          <p:nvPr>
            <p:ph sz="half" idx="2"/>
          </p:nvPr>
        </p:nvPicPr>
        <p:blipFill>
          <a:blip r:embed="rId3"/>
          <a:srcRect t="8432" b="4236"/>
          <a:stretch>
            <a:fillRect/>
          </a:stretch>
        </p:blipFill>
        <p:spPr>
          <a:xfrm>
            <a:off x="7310024" y="103909"/>
            <a:ext cx="3346891" cy="6550320"/>
          </a:xfrm>
          <a:prstGeom prst="rect">
            <a:avLst/>
          </a:prstGeom>
        </p:spPr>
      </p:pic>
    </p:spTree>
    <p:extLst>
      <p:ext uri="{BB962C8B-B14F-4D97-AF65-F5344CB8AC3E}">
        <p14:creationId xmlns:p14="http://schemas.microsoft.com/office/powerpoint/2010/main" val="1170069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18985-76DE-618D-F51B-C74E5BE30885}"/>
              </a:ext>
            </a:extLst>
          </p:cNvPr>
          <p:cNvSpPr>
            <a:spLocks noGrp="1"/>
          </p:cNvSpPr>
          <p:nvPr>
            <p:ph type="title"/>
          </p:nvPr>
        </p:nvSpPr>
        <p:spPr/>
        <p:txBody>
          <a:bodyPr/>
          <a:lstStyle/>
          <a:p>
            <a:r>
              <a:rPr lang="en-US" dirty="0" err="1"/>
              <a:t>Javascript</a:t>
            </a:r>
            <a:r>
              <a:rPr lang="en-US" dirty="0"/>
              <a:t> Event Handling</a:t>
            </a:r>
          </a:p>
        </p:txBody>
      </p:sp>
      <p:sp>
        <p:nvSpPr>
          <p:cNvPr id="3" name="Content Placeholder 2">
            <a:extLst>
              <a:ext uri="{FF2B5EF4-FFF2-40B4-BE49-F238E27FC236}">
                <a16:creationId xmlns:a16="http://schemas.microsoft.com/office/drawing/2014/main" id="{1456A625-5C5A-9F67-FD9A-97139D8E075C}"/>
              </a:ext>
            </a:extLst>
          </p:cNvPr>
          <p:cNvSpPr>
            <a:spLocks noGrp="1"/>
          </p:cNvSpPr>
          <p:nvPr>
            <p:ph idx="1"/>
          </p:nvPr>
        </p:nvSpPr>
        <p:spPr/>
        <p:txBody>
          <a:bodyPr>
            <a:normAutofit fontScale="77500" lnSpcReduction="20000"/>
          </a:bodyPr>
          <a:lstStyle/>
          <a:p>
            <a:pPr marL="0" indent="0">
              <a:lnSpc>
                <a:spcPct val="120000"/>
              </a:lnSpc>
              <a:buNone/>
            </a:pPr>
            <a:r>
              <a:rPr lang="en-US" dirty="0">
                <a:latin typeface="Verdana" panose="020B0604030504040204" pitchFamily="34" charset="0"/>
                <a:ea typeface="Verdana" panose="020B0604030504040204" pitchFamily="34" charset="0"/>
                <a:cs typeface="Verdana" panose="020B0604030504040204" pitchFamily="34" charset="0"/>
              </a:rPr>
              <a:t>&lt;button </a:t>
            </a:r>
            <a:r>
              <a:rPr lang="en-US" dirty="0" err="1">
                <a:latin typeface="Verdana" panose="020B0604030504040204" pitchFamily="34" charset="0"/>
                <a:ea typeface="Verdana" panose="020B0604030504040204" pitchFamily="34" charset="0"/>
                <a:cs typeface="Verdana" panose="020B0604030504040204" pitchFamily="34" charset="0"/>
              </a:rPr>
              <a:t>onClick</a:t>
            </a:r>
            <a:r>
              <a:rPr lang="en-US" dirty="0">
                <a:latin typeface="Verdana" panose="020B0604030504040204" pitchFamily="34" charset="0"/>
                <a:ea typeface="Verdana" panose="020B0604030504040204" pitchFamily="34" charset="0"/>
                <a:cs typeface="Verdana" panose="020B0604030504040204" pitchFamily="34" charset="0"/>
              </a:rPr>
              <a:t>={() =&gt; </a:t>
            </a:r>
            <a:r>
              <a:rPr lang="en-US" dirty="0" err="1">
                <a:latin typeface="Verdana" panose="020B0604030504040204" pitchFamily="34" charset="0"/>
                <a:ea typeface="Verdana" panose="020B0604030504040204" pitchFamily="34" charset="0"/>
                <a:cs typeface="Verdana" panose="020B0604030504040204" pitchFamily="34" charset="0"/>
              </a:rPr>
              <a:t>handleAction</a:t>
            </a:r>
            <a:r>
              <a:rPr lang="en-US" dirty="0">
                <a:latin typeface="Verdana" panose="020B0604030504040204" pitchFamily="34" charset="0"/>
                <a:ea typeface="Verdana" panose="020B0604030504040204" pitchFamily="34" charset="0"/>
                <a:cs typeface="Verdana" panose="020B0604030504040204" pitchFamily="34" charset="0"/>
              </a:rPr>
              <a:t>(‘my-button-action’)} …&gt; &lt;/button&gt;</a:t>
            </a:r>
          </a:p>
          <a:p>
            <a:pPr marL="457200" lvl="1" indent="0">
              <a:lnSpc>
                <a:spcPct val="120000"/>
              </a:lnSpc>
              <a:buNone/>
            </a:pPr>
            <a:endParaRPr lang="en-US" dirty="0">
              <a:latin typeface="Verdana" panose="020B0604030504040204" pitchFamily="34" charset="0"/>
              <a:ea typeface="Verdana" panose="020B0604030504040204" pitchFamily="34" charset="0"/>
              <a:cs typeface="Verdana" panose="020B0604030504040204" pitchFamily="34" charset="0"/>
            </a:endParaRPr>
          </a:p>
          <a:p>
            <a:pPr marL="0" indent="0">
              <a:lnSpc>
                <a:spcPct val="120000"/>
              </a:lnSpc>
              <a:buNone/>
            </a:pPr>
            <a:r>
              <a:rPr lang="en-US" dirty="0">
                <a:latin typeface="Verdana" panose="020B0604030504040204" pitchFamily="34" charset="0"/>
                <a:ea typeface="Verdana" panose="020B0604030504040204" pitchFamily="34" charset="0"/>
                <a:cs typeface="Verdana" panose="020B0604030504040204" pitchFamily="34" charset="0"/>
              </a:rPr>
              <a:t>const </a:t>
            </a:r>
            <a:r>
              <a:rPr lang="en-US" dirty="0" err="1">
                <a:latin typeface="Verdana" panose="020B0604030504040204" pitchFamily="34" charset="0"/>
                <a:ea typeface="Verdana" panose="020B0604030504040204" pitchFamily="34" charset="0"/>
                <a:cs typeface="Verdana" panose="020B0604030504040204" pitchFamily="34" charset="0"/>
              </a:rPr>
              <a:t>handleAction</a:t>
            </a:r>
            <a:r>
              <a:rPr lang="en-US" dirty="0">
                <a:latin typeface="Verdana" panose="020B0604030504040204" pitchFamily="34" charset="0"/>
                <a:ea typeface="Verdana" panose="020B0604030504040204" pitchFamily="34" charset="0"/>
                <a:cs typeface="Verdana" panose="020B0604030504040204" pitchFamily="34" charset="0"/>
              </a:rPr>
              <a:t> = (action) =&gt; {</a:t>
            </a:r>
            <a:br>
              <a:rPr lang="en-US" dirty="0">
                <a:latin typeface="Verdana" panose="020B0604030504040204" pitchFamily="34" charset="0"/>
                <a:ea typeface="Verdana" panose="020B0604030504040204" pitchFamily="34" charset="0"/>
                <a:cs typeface="Verdana" panose="020B0604030504040204" pitchFamily="34" charset="0"/>
              </a:rPr>
            </a:br>
            <a:r>
              <a:rPr lang="en-US" dirty="0">
                <a:latin typeface="Verdana" panose="020B0604030504040204" pitchFamily="34" charset="0"/>
                <a:ea typeface="Verdana" panose="020B0604030504040204" pitchFamily="34" charset="0"/>
                <a:cs typeface="Verdana" panose="020B0604030504040204" pitchFamily="34" charset="0"/>
              </a:rPr>
              <a:t>	</a:t>
            </a:r>
            <a:r>
              <a:rPr lang="en-US" dirty="0" err="1">
                <a:latin typeface="Verdana" panose="020B0604030504040204" pitchFamily="34" charset="0"/>
                <a:ea typeface="Verdana" panose="020B0604030504040204" pitchFamily="34" charset="0"/>
                <a:cs typeface="Verdana" panose="020B0604030504040204" pitchFamily="34" charset="0"/>
              </a:rPr>
              <a:t>setTimeout</a:t>
            </a:r>
            <a:r>
              <a:rPr lang="en-US" dirty="0">
                <a:latin typeface="Verdana" panose="020B0604030504040204" pitchFamily="34" charset="0"/>
                <a:ea typeface="Verdana" panose="020B0604030504040204" pitchFamily="34" charset="0"/>
                <a:cs typeface="Verdana" panose="020B0604030504040204" pitchFamily="34" charset="0"/>
              </a:rPr>
              <a:t>(() =&gt; {</a:t>
            </a:r>
            <a:br>
              <a:rPr lang="en-US" dirty="0">
                <a:latin typeface="Verdana" panose="020B0604030504040204" pitchFamily="34" charset="0"/>
                <a:ea typeface="Verdana" panose="020B0604030504040204" pitchFamily="34" charset="0"/>
                <a:cs typeface="Verdana" panose="020B0604030504040204" pitchFamily="34" charset="0"/>
              </a:rPr>
            </a:br>
            <a:r>
              <a:rPr lang="en-US" dirty="0">
                <a:latin typeface="Verdana" panose="020B0604030504040204" pitchFamily="34" charset="0"/>
                <a:ea typeface="Verdana" panose="020B0604030504040204" pitchFamily="34" charset="0"/>
                <a:cs typeface="Verdana" panose="020B0604030504040204" pitchFamily="34" charset="0"/>
              </a:rPr>
              <a:t>		switch (</a:t>
            </a:r>
            <a:r>
              <a:rPr lang="en-US" i="1" dirty="0">
                <a:latin typeface="Verdana" panose="020B0604030504040204" pitchFamily="34" charset="0"/>
                <a:ea typeface="Verdana" panose="020B0604030504040204" pitchFamily="34" charset="0"/>
                <a:cs typeface="Verdana" panose="020B0604030504040204" pitchFamily="34" charset="0"/>
              </a:rPr>
              <a:t>action</a:t>
            </a:r>
            <a:r>
              <a:rPr lang="en-US" dirty="0">
                <a:latin typeface="Verdana" panose="020B0604030504040204" pitchFamily="34" charset="0"/>
                <a:ea typeface="Verdana" panose="020B0604030504040204" pitchFamily="34" charset="0"/>
                <a:cs typeface="Verdana" panose="020B0604030504040204" pitchFamily="34" charset="0"/>
              </a:rPr>
              <a:t>) {</a:t>
            </a:r>
            <a:br>
              <a:rPr lang="en-US" dirty="0">
                <a:latin typeface="Verdana" panose="020B0604030504040204" pitchFamily="34" charset="0"/>
                <a:ea typeface="Verdana" panose="020B0604030504040204" pitchFamily="34" charset="0"/>
                <a:cs typeface="Verdana" panose="020B0604030504040204" pitchFamily="34" charset="0"/>
              </a:rPr>
            </a:br>
            <a:r>
              <a:rPr lang="en-US" dirty="0">
                <a:latin typeface="Verdana" panose="020B0604030504040204" pitchFamily="34" charset="0"/>
                <a:ea typeface="Verdana" panose="020B0604030504040204" pitchFamily="34" charset="0"/>
                <a:cs typeface="Verdana" panose="020B0604030504040204" pitchFamily="34" charset="0"/>
              </a:rPr>
              <a:t>			case ‘my-button-action’:</a:t>
            </a:r>
            <a:br>
              <a:rPr lang="en-US" dirty="0">
                <a:latin typeface="Verdana" panose="020B0604030504040204" pitchFamily="34" charset="0"/>
                <a:ea typeface="Verdana" panose="020B0604030504040204" pitchFamily="34" charset="0"/>
                <a:cs typeface="Verdana" panose="020B0604030504040204" pitchFamily="34" charset="0"/>
              </a:rPr>
            </a:br>
            <a:r>
              <a:rPr lang="en-US" dirty="0">
                <a:latin typeface="Verdana" panose="020B0604030504040204" pitchFamily="34" charset="0"/>
                <a:ea typeface="Verdana" panose="020B0604030504040204" pitchFamily="34" charset="0"/>
                <a:cs typeface="Verdana" panose="020B0604030504040204" pitchFamily="34" charset="0"/>
              </a:rPr>
              <a:t>				…</a:t>
            </a:r>
            <a:br>
              <a:rPr lang="en-US" dirty="0">
                <a:latin typeface="Verdana" panose="020B0604030504040204" pitchFamily="34" charset="0"/>
                <a:ea typeface="Verdana" panose="020B0604030504040204" pitchFamily="34" charset="0"/>
                <a:cs typeface="Verdana" panose="020B0604030504040204" pitchFamily="34" charset="0"/>
              </a:rPr>
            </a:br>
            <a:r>
              <a:rPr lang="en-US" dirty="0">
                <a:latin typeface="Verdana" panose="020B0604030504040204" pitchFamily="34" charset="0"/>
                <a:ea typeface="Verdana" panose="020B0604030504040204" pitchFamily="34" charset="0"/>
                <a:cs typeface="Verdana" panose="020B0604030504040204" pitchFamily="34" charset="0"/>
              </a:rPr>
              <a:t>				break;</a:t>
            </a:r>
            <a:br>
              <a:rPr lang="en-US" dirty="0">
                <a:latin typeface="Verdana" panose="020B0604030504040204" pitchFamily="34" charset="0"/>
                <a:ea typeface="Verdana" panose="020B0604030504040204" pitchFamily="34" charset="0"/>
                <a:cs typeface="Verdana" panose="020B0604030504040204" pitchFamily="34" charset="0"/>
              </a:rPr>
            </a:br>
            <a:r>
              <a:rPr lang="en-US" dirty="0">
                <a:latin typeface="Verdana" panose="020B0604030504040204" pitchFamily="34" charset="0"/>
                <a:ea typeface="Verdana" panose="020B0604030504040204" pitchFamily="34" charset="0"/>
                <a:cs typeface="Verdana" panose="020B0604030504040204" pitchFamily="34" charset="0"/>
              </a:rPr>
              <a:t>		}</a:t>
            </a:r>
            <a:br>
              <a:rPr lang="en-US" dirty="0">
                <a:latin typeface="Verdana" panose="020B0604030504040204" pitchFamily="34" charset="0"/>
                <a:ea typeface="Verdana" panose="020B0604030504040204" pitchFamily="34" charset="0"/>
                <a:cs typeface="Verdana" panose="020B0604030504040204" pitchFamily="34" charset="0"/>
              </a:rPr>
            </a:br>
            <a:r>
              <a:rPr lang="en-US" dirty="0">
                <a:latin typeface="Verdana" panose="020B0604030504040204" pitchFamily="34" charset="0"/>
                <a:ea typeface="Verdana" panose="020B0604030504040204" pitchFamily="34" charset="0"/>
                <a:cs typeface="Verdana" panose="020B0604030504040204" pitchFamily="34" charset="0"/>
              </a:rPr>
              <a:t>	}, 500);</a:t>
            </a:r>
            <a:br>
              <a:rPr lang="en-US" dirty="0">
                <a:latin typeface="Verdana" panose="020B0604030504040204" pitchFamily="34" charset="0"/>
                <a:ea typeface="Verdana" panose="020B0604030504040204" pitchFamily="34" charset="0"/>
                <a:cs typeface="Verdana" panose="020B0604030504040204" pitchFamily="34" charset="0"/>
              </a:rPr>
            </a:br>
            <a:r>
              <a:rPr lang="en-US" dirty="0">
                <a:latin typeface="Verdana" panose="020B0604030504040204" pitchFamily="34" charset="0"/>
                <a:ea typeface="Verdana" panose="020B0604030504040204" pitchFamily="34" charset="0"/>
                <a:cs typeface="Verdana" panose="020B0604030504040204" pitchFamily="34" charset="0"/>
              </a:rPr>
              <a:t>};</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2991162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45A6C-D31E-2334-33B9-23C175D9DD3C}"/>
              </a:ext>
            </a:extLst>
          </p:cNvPr>
          <p:cNvSpPr>
            <a:spLocks noGrp="1"/>
          </p:cNvSpPr>
          <p:nvPr>
            <p:ph type="title"/>
          </p:nvPr>
        </p:nvSpPr>
        <p:spPr/>
        <p:txBody>
          <a:bodyPr/>
          <a:lstStyle/>
          <a:p>
            <a:r>
              <a:rPr lang="en-US" dirty="0"/>
              <a:t>LLM Prompt Templates</a:t>
            </a:r>
          </a:p>
        </p:txBody>
      </p:sp>
      <p:sp>
        <p:nvSpPr>
          <p:cNvPr id="3" name="Content Placeholder 2">
            <a:extLst>
              <a:ext uri="{FF2B5EF4-FFF2-40B4-BE49-F238E27FC236}">
                <a16:creationId xmlns:a16="http://schemas.microsoft.com/office/drawing/2014/main" id="{FDE06647-D7A9-7FBC-2719-E87E7CBA0F80}"/>
              </a:ext>
            </a:extLst>
          </p:cNvPr>
          <p:cNvSpPr>
            <a:spLocks noGrp="1"/>
          </p:cNvSpPr>
          <p:nvPr>
            <p:ph idx="1"/>
          </p:nvPr>
        </p:nvSpPr>
        <p:spPr/>
        <p:txBody>
          <a:bodyPr>
            <a:normAutofit lnSpcReduction="10000"/>
          </a:bodyPr>
          <a:lstStyle/>
          <a:p>
            <a:r>
              <a:rPr lang="en-US" dirty="0"/>
              <a:t>Ensure reproducible LLMs interactions</a:t>
            </a:r>
          </a:p>
          <a:p>
            <a:pPr marL="914400" lvl="2" indent="0">
              <a:buNone/>
            </a:pPr>
            <a:r>
              <a:rPr lang="en-US" dirty="0">
                <a:latin typeface="Verdana" panose="020B0604030504040204" pitchFamily="34" charset="0"/>
                <a:ea typeface="Verdana" panose="020B0604030504040204" pitchFamily="34" charset="0"/>
                <a:cs typeface="Verdana" panose="020B0604030504040204" pitchFamily="34" charset="0"/>
              </a:rPr>
              <a:t>You are a &lt;role&gt;.</a:t>
            </a:r>
          </a:p>
          <a:p>
            <a:pPr marL="914400" lvl="2" indent="0">
              <a:buNone/>
            </a:pPr>
            <a:r>
              <a:rPr lang="en-US" dirty="0">
                <a:latin typeface="Verdana" panose="020B0604030504040204" pitchFamily="34" charset="0"/>
                <a:ea typeface="Verdana" panose="020B0604030504040204" pitchFamily="34" charset="0"/>
                <a:cs typeface="Verdana" panose="020B0604030504040204" pitchFamily="34" charset="0"/>
              </a:rPr>
              <a:t>Your goal is to &lt;task&gt;.</a:t>
            </a:r>
          </a:p>
          <a:p>
            <a:pPr marL="914400" lvl="2" indent="0">
              <a:buNone/>
            </a:pPr>
            <a:r>
              <a:rPr lang="en-US" dirty="0">
                <a:latin typeface="Verdana" panose="020B0604030504040204" pitchFamily="34" charset="0"/>
                <a:ea typeface="Verdana" panose="020B0604030504040204" pitchFamily="34" charset="0"/>
                <a:cs typeface="Verdana" panose="020B0604030504040204" pitchFamily="34" charset="0"/>
              </a:rPr>
              <a:t>Instructions:</a:t>
            </a:r>
          </a:p>
          <a:p>
            <a:pPr marL="914400" lvl="2" indent="0">
              <a:buNone/>
            </a:pPr>
            <a:r>
              <a:rPr lang="en-US" dirty="0">
                <a:latin typeface="Verdana" panose="020B0604030504040204" pitchFamily="34" charset="0"/>
                <a:ea typeface="Verdana" panose="020B0604030504040204" pitchFamily="34" charset="0"/>
                <a:cs typeface="Verdana" panose="020B0604030504040204" pitchFamily="34" charset="0"/>
              </a:rPr>
              <a:t>  - Analyze &lt;something&gt; for &lt;purpose&gt;</a:t>
            </a:r>
          </a:p>
          <a:p>
            <a:pPr marL="914400" lvl="2" indent="0">
              <a:buNone/>
            </a:pPr>
            <a:r>
              <a:rPr lang="en-US" dirty="0">
                <a:latin typeface="Verdana" panose="020B0604030504040204" pitchFamily="34" charset="0"/>
                <a:ea typeface="Verdana" panose="020B0604030504040204" pitchFamily="34" charset="0"/>
                <a:cs typeface="Verdana" panose="020B0604030504040204" pitchFamily="34" charset="0"/>
              </a:rPr>
              <a:t>  - Identify specific issues and explain each.</a:t>
            </a:r>
          </a:p>
          <a:p>
            <a:pPr marL="914400" lvl="2" indent="0">
              <a:buNone/>
            </a:pPr>
            <a:r>
              <a:rPr lang="en-US" dirty="0">
                <a:latin typeface="Verdana" panose="020B0604030504040204" pitchFamily="34" charset="0"/>
                <a:ea typeface="Verdana" panose="020B0604030504040204" pitchFamily="34" charset="0"/>
                <a:cs typeface="Verdana" panose="020B0604030504040204" pitchFamily="34" charset="0"/>
              </a:rPr>
              <a:t>  - Suggest concrete changes or alternate approaches to address the issues</a:t>
            </a:r>
          </a:p>
          <a:p>
            <a:pPr marL="914400" lvl="2" indent="0">
              <a:buNone/>
            </a:pPr>
            <a:r>
              <a:rPr lang="en-US" dirty="0">
                <a:latin typeface="Verdana" panose="020B0604030504040204" pitchFamily="34" charset="0"/>
                <a:ea typeface="Verdana" panose="020B0604030504040204" pitchFamily="34" charset="0"/>
                <a:cs typeface="Verdana" panose="020B0604030504040204" pitchFamily="34" charset="0"/>
              </a:rPr>
              <a:t>  - The response should be formatted as a list of findings.</a:t>
            </a:r>
          </a:p>
          <a:p>
            <a:pPr marL="914400" lvl="2" indent="0">
              <a:buNone/>
            </a:pPr>
            <a:r>
              <a:rPr lang="en-US" dirty="0">
                <a:latin typeface="Verdana" panose="020B0604030504040204" pitchFamily="34" charset="0"/>
                <a:ea typeface="Verdana" panose="020B0604030504040204" pitchFamily="34" charset="0"/>
                <a:cs typeface="Verdana" panose="020B0604030504040204" pitchFamily="34" charset="0"/>
              </a:rPr>
              <a:t>```</a:t>
            </a:r>
          </a:p>
          <a:p>
            <a:pPr marL="914400" lvl="2" indent="0">
              <a:buNone/>
            </a:pPr>
            <a:r>
              <a:rPr lang="en-US" dirty="0">
                <a:latin typeface="Verdana" panose="020B0604030504040204" pitchFamily="34" charset="0"/>
                <a:ea typeface="Verdana" panose="020B0604030504040204" pitchFamily="34" charset="0"/>
                <a:cs typeface="Verdana" panose="020B0604030504040204" pitchFamily="34" charset="0"/>
              </a:rPr>
              <a:t>Analysis Focus: &lt;purpose&gt;</a:t>
            </a:r>
          </a:p>
          <a:p>
            <a:pPr marL="914400" lvl="2" indent="0">
              <a:buNone/>
            </a:pPr>
            <a:r>
              <a:rPr lang="en-US" dirty="0">
                <a:latin typeface="Verdana" panose="020B0604030504040204" pitchFamily="34" charset="0"/>
                <a:ea typeface="Verdana" panose="020B0604030504040204" pitchFamily="34" charset="0"/>
                <a:cs typeface="Verdana" panose="020B0604030504040204" pitchFamily="34" charset="0"/>
              </a:rPr>
              <a:t>```</a:t>
            </a:r>
          </a:p>
          <a:p>
            <a:pPr marL="914400" lvl="2" indent="0">
              <a:buNone/>
            </a:pPr>
            <a:r>
              <a:rPr lang="en-US" dirty="0">
                <a:latin typeface="Verdana" panose="020B0604030504040204" pitchFamily="34" charset="0"/>
                <a:ea typeface="Verdana" panose="020B0604030504040204" pitchFamily="34" charset="0"/>
                <a:cs typeface="Verdana" panose="020B0604030504040204" pitchFamily="34" charset="0"/>
              </a:rPr>
              <a:t>Code: &lt;code&gt;</a:t>
            </a:r>
          </a:p>
        </p:txBody>
      </p:sp>
    </p:spTree>
    <p:extLst>
      <p:ext uri="{BB962C8B-B14F-4D97-AF65-F5344CB8AC3E}">
        <p14:creationId xmlns:p14="http://schemas.microsoft.com/office/powerpoint/2010/main" val="3059534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D91E-ACA0-3434-13C5-7541BDAA8AE8}"/>
              </a:ext>
            </a:extLst>
          </p:cNvPr>
          <p:cNvSpPr>
            <a:spLocks noGrp="1"/>
          </p:cNvSpPr>
          <p:nvPr>
            <p:ph type="title"/>
          </p:nvPr>
        </p:nvSpPr>
        <p:spPr/>
        <p:txBody>
          <a:bodyPr/>
          <a:lstStyle/>
          <a:p>
            <a:r>
              <a:rPr lang="en-US" dirty="0"/>
              <a:t>Frontend Developer Template</a:t>
            </a:r>
          </a:p>
        </p:txBody>
      </p:sp>
      <p:sp>
        <p:nvSpPr>
          <p:cNvPr id="3" name="Content Placeholder 2">
            <a:extLst>
              <a:ext uri="{FF2B5EF4-FFF2-40B4-BE49-F238E27FC236}">
                <a16:creationId xmlns:a16="http://schemas.microsoft.com/office/drawing/2014/main" id="{A172D9C0-1738-7783-76DA-F41E94D388F4}"/>
              </a:ext>
            </a:extLst>
          </p:cNvPr>
          <p:cNvSpPr>
            <a:spLocks noGrp="1"/>
          </p:cNvSpPr>
          <p:nvPr>
            <p:ph idx="1"/>
          </p:nvPr>
        </p:nvSpPr>
        <p:spPr/>
        <p:txBody>
          <a:bodyPr>
            <a:normAutofit/>
          </a:bodyPr>
          <a:lstStyle/>
          <a:p>
            <a:pPr marL="914400" lvl="2" indent="0">
              <a:buNone/>
            </a:pPr>
            <a:r>
              <a:rPr lang="en-US" sz="1900" dirty="0">
                <a:latin typeface="Verdana" panose="020B0604030504040204" pitchFamily="34" charset="0"/>
                <a:ea typeface="Verdana" panose="020B0604030504040204" pitchFamily="34" charset="0"/>
                <a:cs typeface="Verdana" panose="020B0604030504040204" pitchFamily="34" charset="0"/>
              </a:rPr>
              <a:t>You are a frontend developer.</a:t>
            </a:r>
          </a:p>
          <a:p>
            <a:pPr marL="914400" lvl="2" indent="0">
              <a:buNone/>
            </a:pPr>
            <a:r>
              <a:rPr lang="en-US" sz="1900" dirty="0">
                <a:latin typeface="Verdana" panose="020B0604030504040204" pitchFamily="34" charset="0"/>
                <a:ea typeface="Verdana" panose="020B0604030504040204" pitchFamily="34" charset="0"/>
                <a:cs typeface="Verdana" panose="020B0604030504040204" pitchFamily="34" charset="0"/>
              </a:rPr>
              <a:t>Your goal is to add event handlers for common user interface tasks in this frontend code.</a:t>
            </a:r>
          </a:p>
          <a:p>
            <a:pPr marL="914400" lvl="2" indent="0">
              <a:buNone/>
            </a:pPr>
            <a:r>
              <a:rPr lang="en-US" sz="1900" dirty="0">
                <a:latin typeface="Verdana" panose="020B0604030504040204" pitchFamily="34" charset="0"/>
                <a:ea typeface="Verdana" panose="020B0604030504040204" pitchFamily="34" charset="0"/>
                <a:cs typeface="Verdana" panose="020B0604030504040204" pitchFamily="34" charset="0"/>
              </a:rPr>
              <a:t>Instructions:</a:t>
            </a:r>
          </a:p>
          <a:p>
            <a:pPr marL="914400" lvl="2" indent="0">
              <a:buNone/>
            </a:pPr>
            <a:r>
              <a:rPr lang="en-US" sz="1900" dirty="0">
                <a:latin typeface="Verdana" panose="020B0604030504040204" pitchFamily="34" charset="0"/>
                <a:ea typeface="Verdana" panose="020B0604030504040204" pitchFamily="34" charset="0"/>
                <a:cs typeface="Verdana" panose="020B0604030504040204" pitchFamily="34" charset="0"/>
              </a:rPr>
              <a:t>  - Analyze the existing frontend code for UI elements that should respond to user input but have no event handlers.</a:t>
            </a:r>
          </a:p>
          <a:p>
            <a:pPr marL="914400" lvl="2" indent="0">
              <a:buNone/>
            </a:pPr>
            <a:r>
              <a:rPr lang="en-US" sz="1900" dirty="0">
                <a:latin typeface="Verdana" panose="020B0604030504040204" pitchFamily="34" charset="0"/>
                <a:ea typeface="Verdana" panose="020B0604030504040204" pitchFamily="34" charset="0"/>
                <a:cs typeface="Verdana" panose="020B0604030504040204" pitchFamily="34" charset="0"/>
              </a:rPr>
              <a:t>  - Identify specific issues and explain each.</a:t>
            </a:r>
          </a:p>
          <a:p>
            <a:pPr marL="914400" lvl="2" indent="0">
              <a:buNone/>
            </a:pPr>
            <a:r>
              <a:rPr lang="en-US" sz="1900" dirty="0">
                <a:latin typeface="Verdana" panose="020B0604030504040204" pitchFamily="34" charset="0"/>
                <a:ea typeface="Verdana" panose="020B0604030504040204" pitchFamily="34" charset="0"/>
                <a:cs typeface="Verdana" panose="020B0604030504040204" pitchFamily="34" charset="0"/>
              </a:rPr>
              <a:t>  - Suggest concrete changes or alternate approaches to address the issues.</a:t>
            </a:r>
          </a:p>
          <a:p>
            <a:pPr marL="914400" lvl="2" indent="0">
              <a:buNone/>
            </a:pPr>
            <a:r>
              <a:rPr lang="en-US" sz="1900" dirty="0">
                <a:latin typeface="Verdana" panose="020B0604030504040204" pitchFamily="34" charset="0"/>
                <a:ea typeface="Verdana" panose="020B0604030504040204" pitchFamily="34" charset="0"/>
                <a:cs typeface="Verdana" panose="020B0604030504040204" pitchFamily="34" charset="0"/>
              </a:rPr>
              <a:t>  - The response should be formatted as a list of findings.</a:t>
            </a:r>
          </a:p>
          <a:p>
            <a:pPr marL="914400" lvl="2" indent="0">
              <a:buNone/>
            </a:pPr>
            <a:r>
              <a:rPr lang="en-US" sz="1900" dirty="0">
                <a:latin typeface="Verdana" panose="020B0604030504040204" pitchFamily="34" charset="0"/>
                <a:ea typeface="Verdana" panose="020B0604030504040204" pitchFamily="34" charset="0"/>
                <a:cs typeface="Verdana" panose="020B0604030504040204" pitchFamily="34" charset="0"/>
              </a:rPr>
              <a:t>```</a:t>
            </a:r>
          </a:p>
          <a:p>
            <a:pPr marL="914400" lvl="2" indent="0">
              <a:buNone/>
            </a:pPr>
            <a:r>
              <a:rPr lang="en-US" sz="1900" dirty="0">
                <a:latin typeface="Verdana" panose="020B0604030504040204" pitchFamily="34" charset="0"/>
                <a:ea typeface="Verdana" panose="020B0604030504040204" pitchFamily="34" charset="0"/>
                <a:cs typeface="Verdana" panose="020B0604030504040204" pitchFamily="34" charset="0"/>
              </a:rPr>
              <a:t>Analysis Focus: Find UI elements that lack sufficient UI event handlers.</a:t>
            </a:r>
          </a:p>
          <a:p>
            <a:pPr marL="914400" lvl="2" indent="0">
              <a:buNone/>
            </a:pPr>
            <a:r>
              <a:rPr lang="en-US" sz="1900" dirty="0">
                <a:latin typeface="Verdana" panose="020B0604030504040204" pitchFamily="34" charset="0"/>
                <a:ea typeface="Verdana" panose="020B0604030504040204" pitchFamily="34" charset="0"/>
                <a:cs typeface="Verdana" panose="020B0604030504040204" pitchFamily="34" charset="0"/>
              </a:rPr>
              <a:t>```</a:t>
            </a:r>
          </a:p>
          <a:p>
            <a:pPr marL="914400" lvl="2" indent="0">
              <a:buNone/>
            </a:pPr>
            <a:r>
              <a:rPr lang="en-US" sz="1900" dirty="0">
                <a:latin typeface="Verdana" panose="020B0604030504040204" pitchFamily="34" charset="0"/>
                <a:ea typeface="Verdana" panose="020B0604030504040204" pitchFamily="34" charset="0"/>
                <a:cs typeface="Verdana" panose="020B0604030504040204" pitchFamily="34" charset="0"/>
              </a:rPr>
              <a:t>Code: The frontend code in </a:t>
            </a:r>
            <a:r>
              <a:rPr lang="en-US" sz="1900">
                <a:latin typeface="Verdana" panose="020B0604030504040204" pitchFamily="34" charset="0"/>
                <a:ea typeface="Verdana" panose="020B0604030504040204" pitchFamily="34" charset="0"/>
                <a:cs typeface="Verdana" panose="020B0604030504040204" pitchFamily="34" charset="0"/>
              </a:rPr>
              <a:t>the project directory</a:t>
            </a:r>
            <a:r>
              <a:rPr lang="en-US" sz="1900" dirty="0">
                <a:latin typeface="Verdana" panose="020B0604030504040204" pitchFamily="34" charset="0"/>
                <a:ea typeface="Verdana" panose="020B0604030504040204" pitchFamily="34" charset="0"/>
                <a:cs typeface="Verdana" panose="020B0604030504040204" pitchFamily="34" charset="0"/>
              </a:rPr>
              <a:t>.</a:t>
            </a:r>
          </a:p>
          <a:p>
            <a:endParaRPr lang="en-US" dirty="0"/>
          </a:p>
        </p:txBody>
      </p:sp>
    </p:spTree>
    <p:extLst>
      <p:ext uri="{BB962C8B-B14F-4D97-AF65-F5344CB8AC3E}">
        <p14:creationId xmlns:p14="http://schemas.microsoft.com/office/powerpoint/2010/main" val="3458562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62B74-C28A-01A4-9796-6D1103C97AC8}"/>
              </a:ext>
            </a:extLst>
          </p:cNvPr>
          <p:cNvSpPr>
            <a:spLocks noGrp="1"/>
          </p:cNvSpPr>
          <p:nvPr>
            <p:ph type="title"/>
          </p:nvPr>
        </p:nvSpPr>
        <p:spPr/>
        <p:txBody>
          <a:bodyPr/>
          <a:lstStyle/>
          <a:p>
            <a:r>
              <a:rPr lang="en-US" dirty="0"/>
              <a:t>Mobbing Activity</a:t>
            </a:r>
          </a:p>
        </p:txBody>
      </p:sp>
      <p:sp>
        <p:nvSpPr>
          <p:cNvPr id="3" name="Content Placeholder 2">
            <a:extLst>
              <a:ext uri="{FF2B5EF4-FFF2-40B4-BE49-F238E27FC236}">
                <a16:creationId xmlns:a16="http://schemas.microsoft.com/office/drawing/2014/main" id="{9168CE3D-A8F6-5112-7BC4-04344116CE65}"/>
              </a:ext>
            </a:extLst>
          </p:cNvPr>
          <p:cNvSpPr>
            <a:spLocks noGrp="1"/>
          </p:cNvSpPr>
          <p:nvPr>
            <p:ph idx="1"/>
          </p:nvPr>
        </p:nvSpPr>
        <p:spPr/>
        <p:txBody>
          <a:bodyPr>
            <a:normAutofit lnSpcReduction="10000"/>
          </a:bodyPr>
          <a:lstStyle/>
          <a:p>
            <a:r>
              <a:rPr lang="en-US" dirty="0"/>
              <a:t>Mobber will come to the hot seat.</a:t>
            </a:r>
          </a:p>
          <a:p>
            <a:r>
              <a:rPr lang="en-US" dirty="0"/>
              <a:t>Notetaker sits in the front of the class with their laptop to take notes in the #mobbing channel.</a:t>
            </a:r>
          </a:p>
          <a:p>
            <a:r>
              <a:rPr lang="en-US" dirty="0"/>
              <a:t>Let’s write the UI event handler code for Tinder.</a:t>
            </a:r>
          </a:p>
          <a:p>
            <a:pPr lvl="1"/>
            <a:r>
              <a:rPr lang="en-US" dirty="0"/>
              <a:t>Swipe left - Reject</a:t>
            </a:r>
          </a:p>
          <a:p>
            <a:pPr lvl="1"/>
            <a:r>
              <a:rPr lang="en-US" dirty="0"/>
              <a:t>Swipe right - Like</a:t>
            </a:r>
          </a:p>
          <a:p>
            <a:pPr lvl="1"/>
            <a:r>
              <a:rPr lang="en-US" dirty="0"/>
              <a:t>Swipe up – Super like</a:t>
            </a:r>
          </a:p>
          <a:p>
            <a:pPr lvl="1"/>
            <a:r>
              <a:rPr lang="en-US" dirty="0"/>
              <a:t>Double-tap – Look at the other photos in the profile</a:t>
            </a:r>
          </a:p>
          <a:p>
            <a:pPr lvl="1"/>
            <a:r>
              <a:rPr lang="en-US" dirty="0"/>
              <a:t>Also, power the action buttons at the bottom.</a:t>
            </a:r>
          </a:p>
          <a:p>
            <a:r>
              <a:rPr lang="en-US" dirty="0"/>
              <a:t>Everyone tell the mobber what to say to ChatGPT to get it to create our Tinder frontend.</a:t>
            </a:r>
          </a:p>
          <a:p>
            <a:endParaRPr lang="en-US" dirty="0"/>
          </a:p>
        </p:txBody>
      </p:sp>
      <p:sp>
        <p:nvSpPr>
          <p:cNvPr id="4" name="TextBox 3">
            <a:extLst>
              <a:ext uri="{FF2B5EF4-FFF2-40B4-BE49-F238E27FC236}">
                <a16:creationId xmlns:a16="http://schemas.microsoft.com/office/drawing/2014/main" id="{23F63731-9B09-D118-4FEF-56CB45F677F7}"/>
              </a:ext>
            </a:extLst>
          </p:cNvPr>
          <p:cNvSpPr txBox="1"/>
          <p:nvPr/>
        </p:nvSpPr>
        <p:spPr>
          <a:xfrm rot="314644">
            <a:off x="7205827" y="1019580"/>
            <a:ext cx="4604209" cy="461665"/>
          </a:xfrm>
          <a:prstGeom prst="rect">
            <a:avLst/>
          </a:prstGeom>
          <a:solidFill>
            <a:schemeClr val="accent1">
              <a:lumMod val="40000"/>
              <a:lumOff val="60000"/>
            </a:schemeClr>
          </a:solidFill>
        </p:spPr>
        <p:txBody>
          <a:bodyPr wrap="none" rtlCol="0">
            <a:spAutoFit/>
          </a:bodyPr>
          <a:lstStyle/>
          <a:p>
            <a:r>
              <a:rPr lang="en-US" sz="2400" dirty="0"/>
              <a:t>Join Zoom to see the screen better!</a:t>
            </a:r>
          </a:p>
        </p:txBody>
      </p:sp>
    </p:spTree>
    <p:extLst>
      <p:ext uri="{BB962C8B-B14F-4D97-AF65-F5344CB8AC3E}">
        <p14:creationId xmlns:p14="http://schemas.microsoft.com/office/powerpoint/2010/main" val="41857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649C1-DCC3-4C40-520A-AD1BF38B60EC}"/>
              </a:ext>
            </a:extLst>
          </p:cNvPr>
          <p:cNvSpPr>
            <a:spLocks noGrp="1"/>
          </p:cNvSpPr>
          <p:nvPr>
            <p:ph type="title"/>
          </p:nvPr>
        </p:nvSpPr>
        <p:spPr/>
        <p:txBody>
          <a:bodyPr/>
          <a:lstStyle/>
          <a:p>
            <a:r>
              <a:rPr lang="en-US" dirty="0"/>
              <a:t>Context Management</a:t>
            </a:r>
          </a:p>
        </p:txBody>
      </p:sp>
      <p:sp>
        <p:nvSpPr>
          <p:cNvPr id="3" name="Content Placeholder 2">
            <a:extLst>
              <a:ext uri="{FF2B5EF4-FFF2-40B4-BE49-F238E27FC236}">
                <a16:creationId xmlns:a16="http://schemas.microsoft.com/office/drawing/2014/main" id="{FAB7055F-22B8-E732-BFFF-61A5E6235F80}"/>
              </a:ext>
            </a:extLst>
          </p:cNvPr>
          <p:cNvSpPr>
            <a:spLocks noGrp="1"/>
          </p:cNvSpPr>
          <p:nvPr>
            <p:ph idx="1"/>
          </p:nvPr>
        </p:nvSpPr>
        <p:spPr/>
        <p:txBody>
          <a:bodyPr/>
          <a:lstStyle/>
          <a:p>
            <a:r>
              <a:rPr lang="en-US" dirty="0"/>
              <a:t>LLMs have a limited context window. </a:t>
            </a:r>
          </a:p>
          <a:p>
            <a:r>
              <a:rPr lang="en-US" dirty="0"/>
              <a:t>The only remember a small amount of information from your prior prompts. Old information is forgotten.</a:t>
            </a:r>
          </a:p>
          <a:p>
            <a:r>
              <a:rPr lang="en-US" dirty="0"/>
              <a:t>Your user story + dev spec + codebase is likely way too big for it to handle.</a:t>
            </a:r>
          </a:p>
        </p:txBody>
      </p:sp>
    </p:spTree>
    <p:extLst>
      <p:ext uri="{BB962C8B-B14F-4D97-AF65-F5344CB8AC3E}">
        <p14:creationId xmlns:p14="http://schemas.microsoft.com/office/powerpoint/2010/main" val="100453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EC147-CA82-C1CE-D5BF-F5D3D5F03606}"/>
              </a:ext>
            </a:extLst>
          </p:cNvPr>
          <p:cNvSpPr>
            <a:spLocks noGrp="1"/>
          </p:cNvSpPr>
          <p:nvPr>
            <p:ph type="title"/>
          </p:nvPr>
        </p:nvSpPr>
        <p:spPr/>
        <p:txBody>
          <a:bodyPr/>
          <a:lstStyle/>
          <a:p>
            <a:r>
              <a:rPr lang="en-US" dirty="0"/>
              <a:t>Code Review</a:t>
            </a:r>
          </a:p>
        </p:txBody>
      </p:sp>
      <p:sp>
        <p:nvSpPr>
          <p:cNvPr id="3" name="Content Placeholder 2">
            <a:extLst>
              <a:ext uri="{FF2B5EF4-FFF2-40B4-BE49-F238E27FC236}">
                <a16:creationId xmlns:a16="http://schemas.microsoft.com/office/drawing/2014/main" id="{D3450970-4713-C678-8890-18F7671855F1}"/>
              </a:ext>
            </a:extLst>
          </p:cNvPr>
          <p:cNvSpPr>
            <a:spLocks noGrp="1"/>
          </p:cNvSpPr>
          <p:nvPr>
            <p:ph idx="1"/>
          </p:nvPr>
        </p:nvSpPr>
        <p:spPr/>
        <p:txBody>
          <a:bodyPr/>
          <a:lstStyle/>
          <a:p>
            <a:r>
              <a:rPr lang="en-US" dirty="0"/>
              <a:t>The LLM just wrote a ton of code. </a:t>
            </a:r>
          </a:p>
          <a:p>
            <a:r>
              <a:rPr lang="en-US" dirty="0"/>
              <a:t>But seriously, who wants to read all that?</a:t>
            </a:r>
          </a:p>
          <a:p>
            <a:r>
              <a:rPr lang="en-US" dirty="0"/>
              <a:t>Our senior </a:t>
            </a:r>
            <a:r>
              <a:rPr lang="en-US" dirty="0" err="1"/>
              <a:t>devs</a:t>
            </a:r>
            <a:r>
              <a:rPr lang="en-US" dirty="0"/>
              <a:t> ask us:</a:t>
            </a:r>
          </a:p>
          <a:p>
            <a:pPr lvl="1"/>
            <a:r>
              <a:rPr lang="en-US" dirty="0"/>
              <a:t>Does this code do what it claims?</a:t>
            </a:r>
          </a:p>
          <a:p>
            <a:pPr lvl="1"/>
            <a:r>
              <a:rPr lang="en-US" dirty="0"/>
              <a:t>Are there any programming bugs?</a:t>
            </a:r>
          </a:p>
          <a:p>
            <a:pPr lvl="1"/>
            <a:r>
              <a:rPr lang="en-US" dirty="0"/>
              <a:t>Are there any design bugs?</a:t>
            </a:r>
          </a:p>
          <a:p>
            <a:pPr marL="457200" lvl="1" indent="0">
              <a:buNone/>
            </a:pPr>
            <a:endParaRPr lang="en-US" dirty="0"/>
          </a:p>
          <a:p>
            <a:r>
              <a:rPr lang="en-US" dirty="0"/>
              <a:t>Can the LLM help us review the code? </a:t>
            </a:r>
          </a:p>
        </p:txBody>
      </p:sp>
    </p:spTree>
    <p:extLst>
      <p:ext uri="{BB962C8B-B14F-4D97-AF65-F5344CB8AC3E}">
        <p14:creationId xmlns:p14="http://schemas.microsoft.com/office/powerpoint/2010/main" val="2948341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0A6FC-C919-93A7-DE4A-0593BEB5F51F}"/>
              </a:ext>
            </a:extLst>
          </p:cNvPr>
          <p:cNvSpPr>
            <a:spLocks noGrp="1"/>
          </p:cNvSpPr>
          <p:nvPr>
            <p:ph type="title"/>
          </p:nvPr>
        </p:nvSpPr>
        <p:spPr/>
        <p:txBody>
          <a:bodyPr/>
          <a:lstStyle/>
          <a:p>
            <a:r>
              <a:rPr lang="en-US" dirty="0"/>
              <a:t>Mobbing: LLM role-based code review</a:t>
            </a:r>
          </a:p>
        </p:txBody>
      </p:sp>
      <p:sp>
        <p:nvSpPr>
          <p:cNvPr id="3" name="Content Placeholder 2">
            <a:extLst>
              <a:ext uri="{FF2B5EF4-FFF2-40B4-BE49-F238E27FC236}">
                <a16:creationId xmlns:a16="http://schemas.microsoft.com/office/drawing/2014/main" id="{F029F73C-639E-84F2-01F8-667D8E2AB798}"/>
              </a:ext>
            </a:extLst>
          </p:cNvPr>
          <p:cNvSpPr>
            <a:spLocks noGrp="1"/>
          </p:cNvSpPr>
          <p:nvPr>
            <p:ph idx="1"/>
          </p:nvPr>
        </p:nvSpPr>
        <p:spPr/>
        <p:txBody>
          <a:bodyPr>
            <a:normAutofit/>
          </a:bodyPr>
          <a:lstStyle/>
          <a:p>
            <a:pPr>
              <a:lnSpc>
                <a:spcPct val="100000"/>
              </a:lnSpc>
            </a:pPr>
            <a:r>
              <a:rPr lang="en-US" dirty="0"/>
              <a:t>Let’s swap the mobber and notetaker.</a:t>
            </a:r>
          </a:p>
          <a:p>
            <a:pPr>
              <a:lnSpc>
                <a:spcPct val="100000"/>
              </a:lnSpc>
            </a:pPr>
            <a:r>
              <a:rPr lang="en-US" dirty="0"/>
              <a:t>Try out these prompts!</a:t>
            </a:r>
          </a:p>
          <a:p>
            <a:pPr lvl="1">
              <a:lnSpc>
                <a:spcPct val="100000"/>
              </a:lnSpc>
            </a:pPr>
            <a:r>
              <a:rPr lang="en-US" dirty="0"/>
              <a:t>You are an architect. What is the purpose of this code? Explain the high-level structure and any design patterns used.</a:t>
            </a:r>
          </a:p>
          <a:p>
            <a:pPr lvl="1">
              <a:lnSpc>
                <a:spcPct val="100000"/>
              </a:lnSpc>
            </a:pPr>
            <a:r>
              <a:rPr lang="en-US" dirty="0"/>
              <a:t>You are a developer concerned about performance. Show me the performance bottlenecks.</a:t>
            </a:r>
          </a:p>
          <a:p>
            <a:pPr lvl="1">
              <a:lnSpc>
                <a:spcPct val="100000"/>
              </a:lnSpc>
            </a:pPr>
            <a:r>
              <a:rPr lang="en-US" dirty="0"/>
              <a:t>You are a tester. Show me where all the test cases are. What parts of the code need more tests?</a:t>
            </a:r>
          </a:p>
          <a:p>
            <a:pPr lvl="1">
              <a:lnSpc>
                <a:spcPct val="100000"/>
              </a:lnSpc>
            </a:pPr>
            <a:r>
              <a:rPr lang="en-US" dirty="0"/>
              <a:t>You are a security analyst. Tell me where the code needs to be hardened further against adversaries.</a:t>
            </a:r>
          </a:p>
          <a:p>
            <a:pPr marL="0" indent="0">
              <a:buNone/>
            </a:pPr>
            <a:endParaRPr lang="en-US" dirty="0"/>
          </a:p>
        </p:txBody>
      </p:sp>
    </p:spTree>
    <p:extLst>
      <p:ext uri="{BB962C8B-B14F-4D97-AF65-F5344CB8AC3E}">
        <p14:creationId xmlns:p14="http://schemas.microsoft.com/office/powerpoint/2010/main" val="3426207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96359-A222-E3EB-E636-0CA70F1F50B2}"/>
              </a:ext>
            </a:extLst>
          </p:cNvPr>
          <p:cNvSpPr>
            <a:spLocks noGrp="1"/>
          </p:cNvSpPr>
          <p:nvPr>
            <p:ph type="title"/>
          </p:nvPr>
        </p:nvSpPr>
        <p:spPr/>
        <p:txBody>
          <a:bodyPr/>
          <a:lstStyle/>
          <a:p>
            <a:r>
              <a:rPr lang="en-US" dirty="0"/>
              <a:t>We forgot to look for bugs!</a:t>
            </a:r>
          </a:p>
        </p:txBody>
      </p:sp>
      <p:sp>
        <p:nvSpPr>
          <p:cNvPr id="3" name="Content Placeholder 2">
            <a:extLst>
              <a:ext uri="{FF2B5EF4-FFF2-40B4-BE49-F238E27FC236}">
                <a16:creationId xmlns:a16="http://schemas.microsoft.com/office/drawing/2014/main" id="{16890FB1-4C92-CCD7-1BE8-D4A38356F258}"/>
              </a:ext>
            </a:extLst>
          </p:cNvPr>
          <p:cNvSpPr>
            <a:spLocks noGrp="1"/>
          </p:cNvSpPr>
          <p:nvPr>
            <p:ph idx="1"/>
          </p:nvPr>
        </p:nvSpPr>
        <p:spPr/>
        <p:txBody>
          <a:bodyPr/>
          <a:lstStyle/>
          <a:p>
            <a:pPr>
              <a:lnSpc>
                <a:spcPct val="100000"/>
              </a:lnSpc>
            </a:pPr>
            <a:r>
              <a:rPr lang="en-US" dirty="0"/>
              <a:t>Prompt: You are a developer concerned about bugs. Create a checklist to check for common mistakes in our frontend code. Be sure it includes checks for standards compliance with WCAG and ARIA.</a:t>
            </a:r>
          </a:p>
          <a:p>
            <a:pPr>
              <a:lnSpc>
                <a:spcPct val="100000"/>
              </a:lnSpc>
            </a:pPr>
            <a:r>
              <a:rPr lang="en-US" dirty="0"/>
              <a:t>Prompt: Great checklist. Now verify our code against this checklist and tell me what you found. </a:t>
            </a:r>
          </a:p>
          <a:p>
            <a:pPr>
              <a:lnSpc>
                <a:spcPct val="100000"/>
              </a:lnSpc>
            </a:pPr>
            <a:r>
              <a:rPr lang="en-US" dirty="0"/>
              <a:t>Prompt: For each problem you found, suggest a bug fix. If I think it’s good, I’ll ask you to apply the fix.</a:t>
            </a:r>
          </a:p>
          <a:p>
            <a:endParaRPr lang="en-US" dirty="0"/>
          </a:p>
        </p:txBody>
      </p:sp>
    </p:spTree>
    <p:extLst>
      <p:ext uri="{BB962C8B-B14F-4D97-AF65-F5344CB8AC3E}">
        <p14:creationId xmlns:p14="http://schemas.microsoft.com/office/powerpoint/2010/main" val="3066308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06A48-EA53-5169-160B-93CF2CE6E231}"/>
              </a:ext>
            </a:extLst>
          </p:cNvPr>
          <p:cNvSpPr>
            <a:spLocks noGrp="1"/>
          </p:cNvSpPr>
          <p:nvPr>
            <p:ph type="title"/>
          </p:nvPr>
        </p:nvSpPr>
        <p:spPr/>
        <p:txBody>
          <a:bodyPr/>
          <a:lstStyle/>
          <a:p>
            <a:r>
              <a:rPr lang="en-US" dirty="0"/>
              <a:t>Next class</a:t>
            </a:r>
          </a:p>
        </p:txBody>
      </p:sp>
      <p:sp>
        <p:nvSpPr>
          <p:cNvPr id="3" name="Content Placeholder 2">
            <a:extLst>
              <a:ext uri="{FF2B5EF4-FFF2-40B4-BE49-F238E27FC236}">
                <a16:creationId xmlns:a16="http://schemas.microsoft.com/office/drawing/2014/main" id="{3978F48A-52F3-590D-6769-782191E71249}"/>
              </a:ext>
            </a:extLst>
          </p:cNvPr>
          <p:cNvSpPr>
            <a:spLocks noGrp="1"/>
          </p:cNvSpPr>
          <p:nvPr>
            <p:ph idx="1"/>
          </p:nvPr>
        </p:nvSpPr>
        <p:spPr/>
        <p:txBody>
          <a:bodyPr/>
          <a:lstStyle/>
          <a:p>
            <a:r>
              <a:rPr lang="en-US" dirty="0"/>
              <a:t>Frontend Development Reflection Discussion</a:t>
            </a:r>
          </a:p>
        </p:txBody>
      </p:sp>
    </p:spTree>
    <p:extLst>
      <p:ext uri="{BB962C8B-B14F-4D97-AF65-F5344CB8AC3E}">
        <p14:creationId xmlns:p14="http://schemas.microsoft.com/office/powerpoint/2010/main" val="1367892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cture-Slide-Template" id="{F4D1CAFB-B1AB-D349-A2C4-6E34248A8882}" vid="{80B8233C-D027-8B49-9660-A2B63453EE6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166</TotalTime>
  <Words>1042</Words>
  <Application>Microsoft Macintosh PowerPoint</Application>
  <PresentationFormat>Widescreen</PresentationFormat>
  <Paragraphs>94</Paragraphs>
  <Slides>13</Slides>
  <Notes>2</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Open Sans</vt:lpstr>
      <vt:lpstr>Verdana</vt:lpstr>
      <vt:lpstr>Office Theme</vt:lpstr>
      <vt:lpstr>Activating Your UI</vt:lpstr>
      <vt:lpstr>Today</vt:lpstr>
      <vt:lpstr>Project Team Meeting</vt:lpstr>
      <vt:lpstr>Let’s make Tinder with Cursor</vt:lpstr>
      <vt:lpstr>Javascript Event Handling</vt:lpstr>
      <vt:lpstr>LLM Prompt Templates</vt:lpstr>
      <vt:lpstr>Frontend Developer Template</vt:lpstr>
      <vt:lpstr>Mobbing Activity</vt:lpstr>
      <vt:lpstr>Context Management</vt:lpstr>
      <vt:lpstr>Code Review</vt:lpstr>
      <vt:lpstr>Mobbing: LLM role-based code review</vt:lpstr>
      <vt:lpstr>We forgot to look for bugs!</vt:lpstr>
      <vt:lpstr>Next class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Begel</dc:creator>
  <cp:lastModifiedBy>Andrew Begel</cp:lastModifiedBy>
  <cp:revision>12</cp:revision>
  <dcterms:created xsi:type="dcterms:W3CDTF">2025-09-24T17:00:16Z</dcterms:created>
  <dcterms:modified xsi:type="dcterms:W3CDTF">2025-09-29T16:52:29Z</dcterms:modified>
</cp:coreProperties>
</file>